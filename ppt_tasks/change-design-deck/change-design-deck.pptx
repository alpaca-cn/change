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045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changE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" y="3401568"/>
            <a:ext cx="1325880" cy="41148"/>
          </a:xfrm>
          <a:prstGeom prst="rect">
            <a:avLst/>
          </a:prstGeom>
          <a:solidFill>
            <a:srgbClr val="E045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675887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一个只服务一个人的健身记录客户端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2148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0453A"/>
                </a:solidFill>
                <a:latin typeface="Microsoft YaHei"/>
                <a:ea typeface="Microsoft YaHei"/>
                <a:cs typeface="Microsoft YaHei"/>
              </a:rPr>
              <a:t>12 MB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256946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Tauri 外壳（实测）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3200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0453A"/>
                </a:solidFill>
                <a:latin typeface="Microsoft YaHei"/>
                <a:ea typeface="Microsoft YaHei"/>
                <a:cs typeface="Microsoft YaHei"/>
              </a:rPr>
              <a:t>47 MB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362102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精简 Java 运行时（实测）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4251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0453A"/>
                </a:solidFill>
                <a:latin typeface="Microsoft YaHei"/>
                <a:ea typeface="Microsoft YaHei"/>
                <a:cs typeface="Microsoft YaHei"/>
              </a:rPr>
              <a:t>0.06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467258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3D 拾取耗时（实测）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62088" y="2084831"/>
            <a:ext cx="10058" cy="3035808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5797296"/>
            <a:ext cx="10820095" cy="10058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92531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设计定稿  ·  2026-10-14  ·  六条决定  ·  四条主流程  ·  三份实测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17175" y="592531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01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045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商业健身 App 的槽点，根源只有一个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108200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不是功能缺失，是「要同时服务几百万人」这件事本身带来的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09344"/>
            <a:ext cx="10820095" cy="10058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5797296"/>
            <a:ext cx="10820095" cy="10058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17175" y="592531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02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9384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免费版限计划数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929384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Strong 免费版只给 3 个 routine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340864"/>
            <a:ext cx="7223760" cy="8229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496312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广告与会员墙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496312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Keep、训记的抱怨集中在会员墙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907792"/>
            <a:ext cx="7223760" cy="8229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063240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数据导出要收费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063240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MyFitnessPal 导出仅 Premium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474720"/>
            <a:ext cx="7223760" cy="8229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630168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食物库偏西式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630168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中式家常菜与份量换算基本不可用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041648"/>
            <a:ext cx="7223760" cy="8229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197096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计划是静态模板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197096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不会按你的历史递进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608576"/>
            <a:ext cx="7223760" cy="8229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54112" y="1874519"/>
            <a:ext cx="10058" cy="3108960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1892807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归因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2258568"/>
            <a:ext cx="3429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订阅制要求功能可被切碎出售，
所以分析、导出、批量录入都进了付费墙。
多租户要求照顾所有人体型，
所以食物库只能往「大而泛」做。
两条都不是技术限制，
而是商业模式限制。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828032"/>
            <a:ext cx="7223760" cy="10058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029200"/>
            <a:ext cx="7223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结论：这些槽点无法靠「做得更好」解决，因为它们是商业模式的必然产物。
change 的立论正是从这里出发——把「多租户」这个前提整个去掉。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045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只有一个用户，所以可以这样设计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108200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本项目所有取舍都服从这一条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09344"/>
            <a:ext cx="10820095" cy="10058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5797296"/>
            <a:ext cx="10820095" cy="10058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17175" y="592531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03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79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不需要账号体系，不需要权限模型，不需要计费，
不需要为「照顾所有人体型」而牺牲精度。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291839"/>
            <a:ext cx="10820095" cy="8229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657600"/>
            <a:ext cx="249928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0453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050791"/>
            <a:ext cx="249928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不受商业模式约束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480560"/>
            <a:ext cx="249928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分析、导出、批量录入都可以直接给，
没有「要不要放进付费墙」这个问题。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22243" y="3611879"/>
            <a:ext cx="8229" cy="1874519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9403" y="3657600"/>
            <a:ext cx="249928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0453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9403" y="4050791"/>
            <a:ext cx="249928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数据完全属于自己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9403" y="4480560"/>
            <a:ext cx="249928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SQLite 单文件 + 本地图片目录，
备份就是把一个文件夹复制走。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5847" y="3611879"/>
            <a:ext cx="8229" cy="1874519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3007" y="3657600"/>
            <a:ext cx="249928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0453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3007" y="4050791"/>
            <a:ext cx="249928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智能体可以直接改数据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3007" y="4480560"/>
            <a:ext cx="249928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商业 App 不敢让 AI 写用户数据，
因为它要对几百万人的数据负责。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69451" y="3611879"/>
            <a:ext cx="8229" cy="1874519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6611" y="3657600"/>
            <a:ext cx="249928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0453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611" y="4050791"/>
            <a:ext cx="249928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精度可以为一个人调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611" y="4480560"/>
            <a:ext cx="249928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食物库只补你常吃的那 20–50 条，
不用管别人吃不吃。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045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六个核心决定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108200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后面逐条展开，每条都给依据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09344"/>
            <a:ext cx="10820095" cy="10058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5797296"/>
            <a:ext cx="10820095" cy="10058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17175" y="592531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04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84248"/>
            <a:ext cx="548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0453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7592" y="198424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产品形态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98648" y="1984248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Tauri 2 桌面客户端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84248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安装包 12 MB，与参考项目同构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404872"/>
            <a:ext cx="10820095" cy="8229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560320"/>
            <a:ext cx="548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0453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7592" y="256032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「打卡」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8648" y="2560320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训练日志，不是出勤打勾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6032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目标值与实际值在同一条组记录上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980944"/>
            <a:ext cx="10820095" cy="8229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136391"/>
            <a:ext cx="548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0453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3136391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饮食记录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98648" y="3136391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营养按每 100 克存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136391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热量永远实时算，绝不存绝对热量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557015"/>
            <a:ext cx="10820095" cy="8229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712463"/>
            <a:ext cx="548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0453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7592" y="3712463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智能体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98648" y="3712463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可读也能写（tool calling）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712463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只增改不删除，每次改动可回退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4133087"/>
            <a:ext cx="10820095" cy="8229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288536"/>
            <a:ext cx="548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0453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07592" y="4288536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人体图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98648" y="4288536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3D，排第二阶段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288536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拾取实测 14.96 ms → 0.06 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4709159"/>
            <a:ext cx="10820095" cy="8229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864607"/>
            <a:ext cx="548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0453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07592" y="4864607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动作库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98648" y="4864607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三家各取所长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864607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876 条，Unlicense 公有领域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045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决定 1 · 产品形态 = 桌面客户端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108200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参考物是「B站工具箱」：把其中的 Python 后台换成 Java，其余层照搬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09344"/>
            <a:ext cx="10820095" cy="10058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5797296"/>
            <a:ext cx="10820095" cy="10058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17175" y="592531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05 /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011679"/>
            <a:ext cx="5029200" cy="3246120"/>
          </a:xfrm>
          <a:prstGeom prst="roundRect">
            <a:avLst/>
          </a:prstGeom>
          <a:solidFill>
            <a:srgbClr val="14171B"/>
          </a:solidFill>
          <a:ln w="12700">
            <a:solidFill>
              <a:srgbClr val="262B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011679"/>
            <a:ext cx="5029200" cy="237744"/>
          </a:xfrm>
          <a:prstGeom prst="rect">
            <a:avLst/>
          </a:prstGeom>
          <a:solidFill>
            <a:srgbClr val="1A1E2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3816" y="2089403"/>
            <a:ext cx="91440" cy="82296"/>
          </a:xfrm>
          <a:prstGeom prst="roundRect">
            <a:avLst/>
          </a:prstGeom>
          <a:solidFill>
            <a:srgbClr val="FF5F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9264" y="2089403"/>
            <a:ext cx="91440" cy="82296"/>
          </a:xfrm>
          <a:prstGeom prst="roundRect">
            <a:avLst/>
          </a:prstGeom>
          <a:solidFill>
            <a:srgbClr val="FEBC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24712" y="2089403"/>
            <a:ext cx="91440" cy="82296"/>
          </a:xfrm>
          <a:prstGeom prst="roundRect">
            <a:avLst/>
          </a:prstGeom>
          <a:solidFill>
            <a:srgbClr val="28C8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44168" y="2029967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changE — 训练打卡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249424"/>
            <a:ext cx="1051560" cy="3008376"/>
          </a:xfrm>
          <a:prstGeom prst="rect">
            <a:avLst/>
          </a:prstGeom>
          <a:solidFill>
            <a:srgbClr val="1A1E2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8096" y="2372868"/>
            <a:ext cx="886968" cy="219456"/>
          </a:xfrm>
          <a:prstGeom prst="roundRect">
            <a:avLst/>
          </a:prstGeom>
          <a:solidFill>
            <a:srgbClr val="8F2C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238658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今日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2660903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训练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29352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饮食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20954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人体图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34838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智能体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92808" y="2414015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今天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92808" y="2798063"/>
            <a:ext cx="1078992" cy="960120"/>
          </a:xfrm>
          <a:prstGeom prst="roundRect">
            <a:avLst/>
          </a:prstGeom>
          <a:solidFill>
            <a:srgbClr val="1A1E23"/>
          </a:solidFill>
          <a:ln w="12700">
            <a:solidFill>
              <a:srgbClr val="262B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84248" y="2889503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今日训练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81528" y="2798063"/>
            <a:ext cx="1078992" cy="960120"/>
          </a:xfrm>
          <a:prstGeom prst="roundRect">
            <a:avLst/>
          </a:prstGeom>
          <a:solidFill>
            <a:srgbClr val="1A1E23"/>
          </a:solidFill>
          <a:ln w="12700">
            <a:solidFill>
              <a:srgbClr val="262B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72968" y="2889503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今日饮食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70248" y="2798063"/>
            <a:ext cx="1078992" cy="960120"/>
          </a:xfrm>
          <a:prstGeom prst="roundRect">
            <a:avLst/>
          </a:prstGeom>
          <a:solidFill>
            <a:srgbClr val="1A1E23"/>
          </a:solidFill>
          <a:ln w="12700">
            <a:solidFill>
              <a:srgbClr val="262B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1688" y="2889503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本周容量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92808" y="3895344"/>
            <a:ext cx="3529584" cy="384048"/>
          </a:xfrm>
          <a:prstGeom prst="roundRect">
            <a:avLst/>
          </a:prstGeom>
          <a:solidFill>
            <a:srgbClr val="E045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92808" y="3895344"/>
            <a:ext cx="352958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开始训练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92808" y="4389120"/>
            <a:ext cx="3529584" cy="384048"/>
          </a:xfrm>
          <a:prstGeom prst="roundRect">
            <a:avLst/>
          </a:prstGeom>
          <a:solidFill>
            <a:srgbClr val="1A1E23"/>
          </a:solidFill>
          <a:ln w="12700">
            <a:solidFill>
              <a:srgbClr val="262B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92808" y="4389120"/>
            <a:ext cx="352958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从人体图挑肌群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1892807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参考项目 → CHANGE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225856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界面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62088" y="225856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Vue 3 + TypeScript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24744" y="225856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照搬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2569463"/>
            <a:ext cx="5074920" cy="8229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63640" y="2660903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前端配套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62088" y="2660903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Vite / Pinia / Router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24744" y="2660903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照搬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2971799"/>
            <a:ext cx="5074920" cy="8229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63640" y="306323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桌面壳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62088" y="306323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Tauri 2 + Rust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24744" y="3063239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照搬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3374135"/>
            <a:ext cx="5074920" cy="8229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3465575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业务后台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62088" y="3465575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Python → Java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24744" y="3465575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453A"/>
                </a:solidFill>
                <a:latin typeface="Microsoft YaHei"/>
                <a:ea typeface="Microsoft YaHei"/>
                <a:cs typeface="Microsoft YaHei"/>
              </a:rPr>
              <a:t>换掉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3776472"/>
            <a:ext cx="5074920" cy="8229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63640" y="3867911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前后端通信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62088" y="3867911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stdio JSON → 本地 HTTP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24744" y="3867911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453A"/>
                </a:solidFill>
                <a:latin typeface="Microsoft YaHei"/>
                <a:ea typeface="Microsoft YaHei"/>
                <a:cs typeface="Microsoft YaHei"/>
              </a:rPr>
              <a:t>换掉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63640" y="4178808"/>
            <a:ext cx="5074920" cy="8229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63640" y="427024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本地存储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62088" y="427024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SQLite 单文件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24744" y="427024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照搬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63640" y="4581144"/>
            <a:ext cx="5074920" cy="8229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63640" y="4672584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导出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62088" y="467258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openpyxl → Apache POI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24744" y="467258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453A"/>
                </a:solidFill>
                <a:latin typeface="Microsoft YaHei"/>
                <a:ea typeface="Microsoft YaHei"/>
                <a:cs typeface="Microsoft YaHei"/>
              </a:rPr>
              <a:t>换掉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045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决定 2 · 「打卡」= 训练日志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108200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三层嵌套，目标值与实际值放在同一条记录上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09344"/>
            <a:ext cx="10820095" cy="10058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5797296"/>
            <a:ext cx="10820095" cy="10058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17175" y="592531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06 /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84248"/>
            <a:ext cx="6035040" cy="475488"/>
          </a:xfrm>
          <a:prstGeom prst="roundRect">
            <a:avLst/>
          </a:prstGeom>
          <a:solidFill>
            <a:srgbClr val="1A1E23"/>
          </a:solidFill>
          <a:ln w="12700">
            <a:solidFill>
              <a:srgbClr val="E0453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84248"/>
            <a:ext cx="5669279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WorkoutSession   一次训练 · 10月14日 · 胸 + 三头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2624328"/>
            <a:ext cx="5623559" cy="475488"/>
          </a:xfrm>
          <a:prstGeom prst="roundRect">
            <a:avLst/>
          </a:prstGeom>
          <a:solidFill>
            <a:srgbClr val="14171B"/>
          </a:solidFill>
          <a:ln w="12700">
            <a:solidFill>
              <a:srgbClr val="262B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2624328"/>
            <a:ext cx="52578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SessionExercise   训练中的动作 · 杠铃卧推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08760" y="3264408"/>
            <a:ext cx="5212079" cy="475488"/>
          </a:xfrm>
          <a:prstGeom prst="roundRect">
            <a:avLst/>
          </a:prstGeom>
          <a:solidFill>
            <a:srgbClr val="14171B"/>
          </a:solidFill>
          <a:ln w="12700">
            <a:solidFill>
              <a:srgbClr val="262B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91640" y="3264408"/>
            <a:ext cx="48463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WorkoutSet   一组 · 60 kg × 8 · 目标 60 × 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99592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一个动作行下面挂多条组行，几组就是几行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379976"/>
            <a:ext cx="6035040" cy="10058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562856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为什么不做最轻的「今天练了」打卡？
因为那样记不了重量与次数，看不到自己有没有变强；
三个月后回头看，只有一堆日期，没有信息。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201167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0453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340863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目标值与实际值同表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2724911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「今天该做 60×8、实际做了 62.5×6」
是同一行数据，不需要两张表对账。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5844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0453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3913632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用组类型，不用组序号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429768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热身组 / 递减组 / 力竭组的语义完全不同，
只记「第几组」会把这些信息丢掉。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93992" y="2011679"/>
            <a:ext cx="10058" cy="2926080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045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决定 3 · 一条铁律：不存绝对热量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108200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营养值一律按每 100 克存，份量单独存，热量永远实时算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09344"/>
            <a:ext cx="10820095" cy="10058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5797296"/>
            <a:ext cx="10820095" cy="10058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17175" y="592531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07 /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65960"/>
            <a:ext cx="5158587" cy="3154680"/>
          </a:xfrm>
          <a:prstGeom prst="roundRect">
            <a:avLst/>
          </a:prstGeom>
          <a:solidFill>
            <a:srgbClr val="14171B"/>
          </a:solidFill>
          <a:ln w="12700">
            <a:solidFill>
              <a:srgbClr val="262B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148839"/>
            <a:ext cx="464652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✗   反例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624327"/>
            <a:ext cx="464652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MealItem 里直接存 174 kcal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136391"/>
            <a:ext cx="4646523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用户把份量从「1 碗」改成「1.5 碗」时，
你必须记得回去把这一行重算一遍。
漏一次，这一餐的账就永远对不上；
而且你事后无法判断哪一行是漏算的。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47307" y="1965960"/>
            <a:ext cx="5158587" cy="3154680"/>
          </a:xfrm>
          <a:prstGeom prst="roundRect">
            <a:avLst/>
          </a:prstGeom>
          <a:solidFill>
            <a:srgbClr val="14171B"/>
          </a:solidFill>
          <a:ln w="12700">
            <a:solidFill>
              <a:srgbClr val="E0453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3339" y="2148839"/>
            <a:ext cx="464652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0453A"/>
                </a:solidFill>
                <a:latin typeface="Microsoft YaHei"/>
                <a:ea typeface="Microsoft YaHei"/>
                <a:cs typeface="Microsoft YaHei"/>
              </a:rPr>
              <a:t>✓   正例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3339" y="2624327"/>
            <a:ext cx="464652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存「1 碗 → 150 克」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3339" y="3136391"/>
            <a:ext cx="4646523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热量 = 150 ÷ 100 × 每百克值，当场算出来。
改份量、换食物、换单位，全都自动正确。
而且「改了之后对不对」不需要靠人记得。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276088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同一张午餐照片，三家 App 实测估出 1086 / 845 / 740 千卡——差 300 多。所以识别结果只是草稿，而「可修正」正是这条铁律换来的。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045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决定 4 · 智能体可读也能写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108200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说话就是录入，而工具集是白名单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09344"/>
            <a:ext cx="10820095" cy="10058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5797296"/>
            <a:ext cx="10820095" cy="10058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17175" y="592531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08 /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50008" y="1984248"/>
            <a:ext cx="4736592" cy="384048"/>
          </a:xfrm>
          <a:prstGeom prst="roundRect">
            <a:avLst/>
          </a:prstGeom>
          <a:solidFill>
            <a:srgbClr val="E045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32888" y="1984248"/>
            <a:ext cx="4370831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中午吃了两个包子一碗粥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78024"/>
            <a:ext cx="4736592" cy="384048"/>
          </a:xfrm>
          <a:prstGeom prst="roundRect">
            <a:avLst/>
          </a:prstGeom>
          <a:solidFill>
            <a:srgbClr val="1A1E23"/>
          </a:solidFill>
          <a:ln w="12700">
            <a:solidFill>
              <a:srgbClr val="262B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478024"/>
            <a:ext cx="4370831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已记入午餐：包子 2 个（200g）、白粥 1 碗（300g），合计约 560 kcal。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971800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⚙  调用了 create_meal_item ×2 · 已记入变更日志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50008" y="3282696"/>
            <a:ext cx="4736592" cy="384048"/>
          </a:xfrm>
          <a:prstGeom prst="roundRect">
            <a:avLst/>
          </a:prstGeom>
          <a:solidFill>
            <a:srgbClr val="E045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32888" y="3282696"/>
            <a:ext cx="4370831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那个鸡腿其实是炸的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76472"/>
            <a:ext cx="4736592" cy="384048"/>
          </a:xfrm>
          <a:prstGeom prst="roundRect">
            <a:avLst/>
          </a:prstGeom>
          <a:solidFill>
            <a:srgbClr val="1A1E23"/>
          </a:solidFill>
          <a:ln w="12700">
            <a:solidFill>
              <a:srgbClr val="262B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776472"/>
            <a:ext cx="4370831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已把「红烧鸡腿」改为「炸鸡腿」，240 → 328 kcal。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27024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⚙  调用了 update_meal_item · 可一键撤销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59752" y="1984248"/>
            <a:ext cx="10058" cy="3200400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3800" y="198424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三条安全线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2377439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工具集是白名单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2688335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不是让模型自由写 SQL。
它能做的事被明确枚举。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3346703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只增改，不删除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3657599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删除无法撤销，所以干脆不给。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431596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每次改动留痕可回退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4626864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ChangeLog 记录改动前后的 JSON 快照。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045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决定 5 · 3D 人体图，但不是现在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108200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可行性已被实测证明；排期仍放第二阶段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09344"/>
            <a:ext cx="10820095" cy="10058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5797296"/>
            <a:ext cx="10820095" cy="10058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17175" y="592531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09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79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拾取耗时实测（240 条射线，全部命中）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95727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three 原生 Raycaster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2446020"/>
            <a:ext cx="2331720" cy="182880"/>
          </a:xfrm>
          <a:prstGeom prst="roundRect">
            <a:avLst/>
          </a:prstGeom>
          <a:solidFill>
            <a:srgbClr val="8F2C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23957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14.96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852927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＋ MeshBVH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360" y="2903220"/>
            <a:ext cx="279806" cy="182880"/>
          </a:xfrm>
          <a:prstGeom prst="roundRect">
            <a:avLst/>
          </a:prstGeom>
          <a:solidFill>
            <a:srgbClr val="E045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28529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0.203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310127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合并单几何 ＋ BVH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80360" y="3360420"/>
            <a:ext cx="116586" cy="182880"/>
          </a:xfrm>
          <a:prstGeom prst="roundRect">
            <a:avLst/>
          </a:prstGeom>
          <a:solidFill>
            <a:srgbClr val="E045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33101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0.06 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813047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瓶颈是 683 次 draw call，不是 128 万个三角形。
这决定了实现方式：必须合并几何。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19672" y="2011679"/>
            <a:ext cx="10058" cy="3200400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03720" y="2011679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界面位第一阶段就冻结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2377439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第二阶段只替换渲染层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2862072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453A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41464" y="286207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侧边导航「人体图」项 + 路由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3209544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453A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41464" y="3209544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最终布局：画布区 + 右侧面板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3557015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453A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41464" y="3557015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后端 GET /api/body-map/volume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3904487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453A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41464" y="3904487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肌群映射表（683 对象名 ↔ 70 块肌肉）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4251959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453A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41464" y="4251959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组件契约 volumeByMuscle / @muscle-click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4654295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第一阶段先渲染 2D 静态热力图——与 3D 共用同一份数据与同一张映射表。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045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决定 6 · 动作库，三家各取所长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108200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中文动作名三个数据集都没有，必须自己产出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09344"/>
            <a:ext cx="10820095" cy="10058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5797296"/>
            <a:ext cx="10820095" cy="10058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17175" y="592531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10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65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动作库主体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9659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yuhonas/free-exercise-db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1965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876 条 · 1.0 MB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965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primaryMuscles 是 17 值固定枚举，可直接绑人体图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1965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0453A"/>
                </a:solidFill>
                <a:latin typeface="Microsoft YaHei"/>
                <a:ea typeface="Microsoft YaHei"/>
                <a:cs typeface="Microsoft YaHei"/>
              </a:rPr>
              <a:t>Unlicense 公有领域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322576"/>
            <a:ext cx="10820095" cy="8229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4688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中文说明补充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2468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hasaneyldrm/exercises-dataset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2468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1,324 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24688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instructions.zh 全覆盖，用于交叉校验术语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MIT（仅文本）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2825496"/>
            <a:ext cx="10820095" cy="8229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9718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2D 区域路径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2971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vulovix/body-muscles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2971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约 24 KB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2971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两个数据文件 vendor 进项目，零依赖风险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2971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Apache-2.0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3328415"/>
            <a:ext cx="10820095" cy="8229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5844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明确不能用：hasaneyldrm 的 images/ 与 videos/ 版权属 Gym visual，仓库原文写明「克隆本仓库不等于获得媒体授权」，且限定 180×180、必须署名。
人体图模型（第二阶段）是 CC BY-SA 4.0，带 ShareAlike 传染性——自用无碍，分发受限。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4480560"/>
            <a:ext cx="10820095" cy="10058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66344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为什么不用 hasaneyldrm 做主体：它的 muscle_group 是 29 值自由文本，traps / trapezius、lats / latissimus dorsi 这类同义词并存，甚至同一条记录里 hip flexors 重复出现两次。
脏字段正好卡在「按肌群筛动作」这个核心功能上——而那正是人体图的命脉。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045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技术选型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108200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八层，每一层都写清了为什么是它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09344"/>
            <a:ext cx="10820095" cy="10058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5797296"/>
            <a:ext cx="10820095" cy="10058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17175" y="592531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11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65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桌面外壳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67128" y="19659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Tauri 2 + Rust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9659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安装包 12 MB（实测产物）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249424"/>
            <a:ext cx="10820095" cy="8229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3682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界面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67128" y="236829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Vue 3 + TS + Vite + Pinia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36829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与参考项目同构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651760"/>
            <a:ext cx="10820095" cy="8229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7706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业务后台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67128" y="277063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JDK 25 + Spring Boot 3.x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77063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你的学习方向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054096"/>
            <a:ext cx="10820095" cy="8229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1729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智能体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67128" y="317296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LangChain4j + DeepSeek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17296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纯 Java 库，tool calling 齐全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456432"/>
            <a:ext cx="10820095" cy="8229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575303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主库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67128" y="3575303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SQLite 单文件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575303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零运维；另提供 MySQL profile 练手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3858768"/>
            <a:ext cx="10820095" cy="8229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97763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缓存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67128" y="3977639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Redis（可选，可降级）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3977639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虚拟机常关，无缓存是常态路径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4261104"/>
            <a:ext cx="10820095" cy="8229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37997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通信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67128" y="437997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本地 HTTP 127.0.0.1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437997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比 stdio JSON 管道简单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4663440"/>
            <a:ext cx="10820095" cy="8229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7823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导出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67128" y="478231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Apache POI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478231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Java 版，对应 openpyxl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5065776"/>
            <a:ext cx="10820095" cy="8229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523036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明确排除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5458968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Semantic Kernel Java（Java 分支已废弃）· Spring Boot 4（与 3.x 线分叉）· Google ADK（偏 Gemini、RAG 弱）· JavaFX 客户端（界面工作量数倍）· 直接加载 FBX（必须转 GLB）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045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108200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四层，全部跑在你自己这台机器上；唯一出网点可关闭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09344"/>
            <a:ext cx="10820095" cy="10058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5797296"/>
            <a:ext cx="10820095" cy="10058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17175" y="592531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12 /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20239"/>
            <a:ext cx="7178040" cy="713232"/>
          </a:xfrm>
          <a:prstGeom prst="roundRect">
            <a:avLst/>
          </a:prstGeom>
          <a:solidFill>
            <a:srgbClr val="1A1E23"/>
          </a:solidFill>
          <a:ln w="12700">
            <a:solidFill>
              <a:srgbClr val="E0453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93391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change.exe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020823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Tauri 2 外壳 · 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22575"/>
            <a:ext cx="6720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窗口管理 · 启动与关闭后台 · 系统托盘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26334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34640"/>
            <a:ext cx="7178040" cy="713232"/>
          </a:xfrm>
          <a:prstGeom prst="roundRect">
            <a:avLst/>
          </a:prstGeom>
          <a:solidFill>
            <a:srgbClr val="14171B"/>
          </a:solidFill>
          <a:ln w="12700">
            <a:solidFill>
              <a:srgbClr val="262B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90779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界面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935224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Vue 3 + TypeScript（WebView2 渲染）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236976"/>
            <a:ext cx="6720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训练打卡 · 饮食记录 · 照片 · 进步曲线 · 智能体 · 人体图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35478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749039"/>
            <a:ext cx="7178040" cy="713232"/>
          </a:xfrm>
          <a:prstGeom prst="roundRect">
            <a:avLst/>
          </a:prstGeom>
          <a:solidFill>
            <a:srgbClr val="14171B"/>
          </a:solidFill>
          <a:ln w="12700">
            <a:solidFill>
              <a:srgbClr val="262B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22191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Java 后台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849624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JDK 25 + Spring Boot 3.x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151376"/>
            <a:ext cx="6720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训练模块 · 饮食模块 · 智能体（LangChain4j）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507992"/>
            <a:ext cx="1698498" cy="713232"/>
          </a:xfrm>
          <a:prstGeom prst="roundRect">
            <a:avLst/>
          </a:prstGeom>
          <a:solidFill>
            <a:srgbClr val="14171B"/>
          </a:solidFill>
          <a:ln w="12700">
            <a:solidFill>
              <a:srgbClr val="262B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590288"/>
            <a:ext cx="1408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SQLite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" y="4882896"/>
            <a:ext cx="1408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单文件数据库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12314" y="4507992"/>
            <a:ext cx="1698498" cy="713232"/>
          </a:xfrm>
          <a:prstGeom prst="roundRect">
            <a:avLst/>
          </a:prstGeom>
          <a:solidFill>
            <a:srgbClr val="14171B"/>
          </a:solidFill>
          <a:ln w="12700">
            <a:solidFill>
              <a:srgbClr val="262B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58618" y="4590288"/>
            <a:ext cx="1408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图片目录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8618" y="4882896"/>
            <a:ext cx="1408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本地文件系统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38828" y="4507992"/>
            <a:ext cx="1698498" cy="713232"/>
          </a:xfrm>
          <a:prstGeom prst="roundRect">
            <a:avLst/>
          </a:prstGeom>
          <a:solidFill>
            <a:srgbClr val="14171B"/>
          </a:solidFill>
          <a:ln w="12700">
            <a:solidFill>
              <a:srgbClr val="262B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5132" y="4590288"/>
            <a:ext cx="1408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食物营养库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5132" y="4882896"/>
            <a:ext cx="1408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随程序打包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65342" y="4507992"/>
            <a:ext cx="1698498" cy="713232"/>
          </a:xfrm>
          <a:prstGeom prst="roundRect">
            <a:avLst/>
          </a:prstGeom>
          <a:solidFill>
            <a:srgbClr val="14171B"/>
          </a:solidFill>
          <a:ln w="12700">
            <a:solidFill>
              <a:srgbClr val="8F2C1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11646" y="4590288"/>
            <a:ext cx="1408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0453A"/>
                </a:solidFill>
                <a:latin typeface="Microsoft YaHei"/>
                <a:ea typeface="Microsoft YaHei"/>
                <a:cs typeface="Microsoft YaHei"/>
              </a:rPr>
              <a:t>模型接口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11646" y="4882896"/>
            <a:ext cx="1408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唯一出网点 · 可关闭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82712" y="1920239"/>
            <a:ext cx="10058" cy="3657600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66760" y="1920239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启动时序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2258568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0453A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77656" y="225856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双击 change.exe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77656" y="2532887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外壳先不显示窗口，避免白屏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3063239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0453A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77656" y="3063239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拉起 Java 子进程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77656" y="3337559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绑定端口 0，由系统分配随机端口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66760" y="3867911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0453A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77656" y="3867911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读端口后开窗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77656" y="4142231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加载 http://127.0.0.1:&lt;port&gt;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6760" y="4672583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0453A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77656" y="4672583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关窗优雅退出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77656" y="4946903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先让后台落盘，再结束进程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045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数据模型：三个域，十五张表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108200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训练 6 张 · 饮食 4 张 · 辅助 5 张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09344"/>
            <a:ext cx="10820095" cy="10058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5797296"/>
            <a:ext cx="10820095" cy="10058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17175" y="592531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13 /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20239"/>
            <a:ext cx="3350666" cy="2331720"/>
          </a:xfrm>
          <a:prstGeom prst="roundRect">
            <a:avLst/>
          </a:prstGeom>
          <a:solidFill>
            <a:srgbClr val="14171B"/>
          </a:solidFill>
          <a:ln w="12700">
            <a:solidFill>
              <a:srgbClr val="262B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2057400"/>
            <a:ext cx="291175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训练域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2441448"/>
            <a:ext cx="291175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Exercise  动作库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724912"/>
            <a:ext cx="291175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WorkoutSession  一次训练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3008376"/>
            <a:ext cx="291175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SessionExercise  动作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291840"/>
            <a:ext cx="291175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WorkoutSet  一组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3575304"/>
            <a:ext cx="291175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MuscleGroup  肌群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58768"/>
            <a:ext cx="291175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ExerciseMuscle  动作↔肌群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20514" y="1920239"/>
            <a:ext cx="3350666" cy="2331720"/>
          </a:xfrm>
          <a:prstGeom prst="roundRect">
            <a:avLst/>
          </a:prstGeom>
          <a:solidFill>
            <a:srgbClr val="14171B"/>
          </a:solidFill>
          <a:ln w="12700">
            <a:solidFill>
              <a:srgbClr val="262B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39970" y="2057400"/>
            <a:ext cx="291175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饮食域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9970" y="2441448"/>
            <a:ext cx="291175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Food  食物库（按每 100 克）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9970" y="2724912"/>
            <a:ext cx="291175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FoodPortion  份量换算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9970" y="3008376"/>
            <a:ext cx="291175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Meal  一餐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39970" y="3291840"/>
            <a:ext cx="291175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MealItem  餐中条目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55228" y="1920239"/>
            <a:ext cx="3350666" cy="2331720"/>
          </a:xfrm>
          <a:prstGeom prst="roundRect">
            <a:avLst/>
          </a:prstGeom>
          <a:solidFill>
            <a:srgbClr val="14171B"/>
          </a:solidFill>
          <a:ln w="12700">
            <a:solidFill>
              <a:srgbClr val="262B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74684" y="2057400"/>
            <a:ext cx="291175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辅助域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74684" y="2441448"/>
            <a:ext cx="291175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Photo  照片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74684" y="2724912"/>
            <a:ext cx="291175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BodyMetric  身体数据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74684" y="3008376"/>
            <a:ext cx="291175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ChatSession / ChatMessage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74684" y="3291840"/>
            <a:ext cx="291175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ChangeLog  可回退日志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74684" y="3575304"/>
            <a:ext cx="291175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（+ 智能体会话共 5 张）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41655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E0453A"/>
                </a:solidFill>
                <a:latin typeface="Microsoft YaHei"/>
                <a:ea typeface="Microsoft YaHei"/>
                <a:cs typeface="Microsoft YaHei"/>
              </a:rPr>
              <a:t>两个建模难点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764024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一次训练多动作多组
三层嵌套。目标值与实际值同表；组类型用枚举。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764024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一餐多条目 + 单位换算
营养按每 100 克存，份量单独存，热量实时算。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045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四条主流程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108200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前三条是每天的日常，第四条是人体图这个入口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09344"/>
            <a:ext cx="10820095" cy="10058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5797296"/>
            <a:ext cx="10820095" cy="10058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17175" y="592531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14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66543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① 记录一次训练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965960"/>
            <a:ext cx="1201369" cy="512064"/>
          </a:xfrm>
          <a:prstGeom prst="roundRect">
            <a:avLst/>
          </a:prstGeom>
          <a:solidFill>
            <a:srgbClr val="14171B"/>
          </a:solidFill>
          <a:ln w="12700">
            <a:solidFill>
              <a:srgbClr val="262B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73552" y="1965960"/>
            <a:ext cx="1055065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今天还没练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1769" y="1965960"/>
            <a:ext cx="219456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21225" y="1965960"/>
            <a:ext cx="1201369" cy="512064"/>
          </a:xfrm>
          <a:prstGeom prst="roundRect">
            <a:avLst/>
          </a:prstGeom>
          <a:solidFill>
            <a:srgbClr val="14171B"/>
          </a:solidFill>
          <a:ln w="12700">
            <a:solidFill>
              <a:srgbClr val="262B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4377" y="1965960"/>
            <a:ext cx="1055065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开始训练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22594" y="1965960"/>
            <a:ext cx="219456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42050" y="1965960"/>
            <a:ext cx="1201369" cy="512064"/>
          </a:xfrm>
          <a:prstGeom prst="roundRect">
            <a:avLst/>
          </a:prstGeom>
          <a:solidFill>
            <a:srgbClr val="14171B"/>
          </a:solidFill>
          <a:ln w="12700">
            <a:solidFill>
              <a:srgbClr val="262B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15202" y="1965960"/>
            <a:ext cx="1055065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选肌群出动作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43419" y="1965960"/>
            <a:ext cx="219456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62875" y="1965960"/>
            <a:ext cx="1201369" cy="512064"/>
          </a:xfrm>
          <a:prstGeom prst="roundRect">
            <a:avLst/>
          </a:prstGeom>
          <a:solidFill>
            <a:srgbClr val="8F2C1E"/>
          </a:solidFill>
          <a:ln w="12700">
            <a:solidFill>
              <a:srgbClr val="E0453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36027" y="1965960"/>
            <a:ext cx="1055065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填 60 ×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64244" y="1965960"/>
            <a:ext cx="219456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83700" y="1965960"/>
            <a:ext cx="1201369" cy="512064"/>
          </a:xfrm>
          <a:prstGeom prst="roundRect">
            <a:avLst/>
          </a:prstGeom>
          <a:solidFill>
            <a:srgbClr val="14171B"/>
          </a:solidFill>
          <a:ln w="12700">
            <a:solidFill>
              <a:srgbClr val="262B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56852" y="1965960"/>
            <a:ext cx="1055065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打勾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85070" y="1965960"/>
            <a:ext cx="219456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04526" y="1965960"/>
            <a:ext cx="1201369" cy="512064"/>
          </a:xfrm>
          <a:prstGeom prst="roundRect">
            <a:avLst/>
          </a:prstGeom>
          <a:solidFill>
            <a:srgbClr val="14171B"/>
          </a:solidFill>
          <a:ln w="12700">
            <a:solidFill>
              <a:srgbClr val="262B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77678" y="1965960"/>
            <a:ext cx="1055065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结束并写入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2532888"/>
            <a:ext cx="10820095" cy="8229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2761488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② 记录一餐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0" y="2660904"/>
            <a:ext cx="1485534" cy="512064"/>
          </a:xfrm>
          <a:prstGeom prst="roundRect">
            <a:avLst/>
          </a:prstGeom>
          <a:solidFill>
            <a:srgbClr val="14171B"/>
          </a:solidFill>
          <a:ln w="12700">
            <a:solidFill>
              <a:srgbClr val="262B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73552" y="2660904"/>
            <a:ext cx="133923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点记一餐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85934" y="2660904"/>
            <a:ext cx="219456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05390" y="2660904"/>
            <a:ext cx="1485534" cy="512064"/>
          </a:xfrm>
          <a:prstGeom prst="roundRect">
            <a:avLst/>
          </a:prstGeom>
          <a:solidFill>
            <a:srgbClr val="14171B"/>
          </a:solidFill>
          <a:ln w="12700">
            <a:solidFill>
              <a:srgbClr val="262B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78542" y="2660904"/>
            <a:ext cx="133923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拍照 / 搜 / 外卖截图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90924" y="2660904"/>
            <a:ext cx="219456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10380" y="2660904"/>
            <a:ext cx="1485534" cy="512064"/>
          </a:xfrm>
          <a:prstGeom prst="roundRect">
            <a:avLst/>
          </a:prstGeom>
          <a:solidFill>
            <a:srgbClr val="8F2C1E"/>
          </a:solidFill>
          <a:ln w="12700">
            <a:solidFill>
              <a:srgbClr val="E0453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83532" y="2660904"/>
            <a:ext cx="133923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AI 出草稿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5914" y="2660904"/>
            <a:ext cx="219456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15370" y="2660904"/>
            <a:ext cx="1485534" cy="512064"/>
          </a:xfrm>
          <a:prstGeom prst="roundRect">
            <a:avLst/>
          </a:prstGeom>
          <a:solidFill>
            <a:srgbClr val="14171B"/>
          </a:solidFill>
          <a:ln w="12700">
            <a:solidFill>
              <a:srgbClr val="262B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88522" y="2660904"/>
            <a:ext cx="133923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确认或改份量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00904" y="2660904"/>
            <a:ext cx="219456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▸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020360" y="2660904"/>
            <a:ext cx="1485534" cy="512064"/>
          </a:xfrm>
          <a:prstGeom prst="roundRect">
            <a:avLst/>
          </a:prstGeom>
          <a:solidFill>
            <a:srgbClr val="14171B"/>
          </a:solidFill>
          <a:ln w="12700">
            <a:solidFill>
              <a:srgbClr val="262B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93512" y="2660904"/>
            <a:ext cx="133923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写入并算热量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" y="3227832"/>
            <a:ext cx="10820095" cy="8229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3456432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③ 智能体改数据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00400" y="3355848"/>
            <a:ext cx="1485534" cy="512064"/>
          </a:xfrm>
          <a:prstGeom prst="roundRect">
            <a:avLst/>
          </a:prstGeom>
          <a:solidFill>
            <a:srgbClr val="14171B"/>
          </a:solidFill>
          <a:ln w="12700">
            <a:solidFill>
              <a:srgbClr val="262B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73552" y="3355848"/>
            <a:ext cx="133923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你说一句话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85934" y="3355848"/>
            <a:ext cx="219456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▸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905390" y="3355848"/>
            <a:ext cx="1485534" cy="512064"/>
          </a:xfrm>
          <a:prstGeom prst="roundRect">
            <a:avLst/>
          </a:prstGeom>
          <a:solidFill>
            <a:srgbClr val="14171B"/>
          </a:solidFill>
          <a:ln w="12700">
            <a:solidFill>
              <a:srgbClr val="262B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78542" y="3355848"/>
            <a:ext cx="133923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解析意图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90924" y="3355848"/>
            <a:ext cx="219456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▸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610380" y="3355848"/>
            <a:ext cx="1485534" cy="512064"/>
          </a:xfrm>
          <a:prstGeom prst="roundRect">
            <a:avLst/>
          </a:prstGeom>
          <a:solidFill>
            <a:srgbClr val="8F2C1E"/>
          </a:solidFill>
          <a:ln w="12700">
            <a:solidFill>
              <a:srgbClr val="E0453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83532" y="3355848"/>
            <a:ext cx="133923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调用工具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95914" y="3355848"/>
            <a:ext cx="219456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▸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315370" y="3355848"/>
            <a:ext cx="1485534" cy="512064"/>
          </a:xfrm>
          <a:prstGeom prst="roundRect">
            <a:avLst/>
          </a:prstGeom>
          <a:solidFill>
            <a:srgbClr val="14171B"/>
          </a:solidFill>
          <a:ln w="12700">
            <a:solidFill>
              <a:srgbClr val="262B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88522" y="3355848"/>
            <a:ext cx="133923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写库 + 记日志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00904" y="3355848"/>
            <a:ext cx="219456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▸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020360" y="3355848"/>
            <a:ext cx="1485534" cy="512064"/>
          </a:xfrm>
          <a:prstGeom prst="roundRect">
            <a:avLst/>
          </a:prstGeom>
          <a:solidFill>
            <a:srgbClr val="14171B"/>
          </a:solidFill>
          <a:ln w="12700">
            <a:solidFill>
              <a:srgbClr val="262B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093512" y="3355848"/>
            <a:ext cx="133923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可一键撤销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85800" y="3922776"/>
            <a:ext cx="10820095" cy="8229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5800" y="4151376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④ 从肌群找动作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200400" y="4050791"/>
            <a:ext cx="1485534" cy="512064"/>
          </a:xfrm>
          <a:prstGeom prst="roundRect">
            <a:avLst/>
          </a:prstGeom>
          <a:solidFill>
            <a:srgbClr val="14171B"/>
          </a:solidFill>
          <a:ln w="12700">
            <a:solidFill>
              <a:srgbClr val="262B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273552" y="4050791"/>
            <a:ext cx="133923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打开人体图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85934" y="4050791"/>
            <a:ext cx="219456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▸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905390" y="4050791"/>
            <a:ext cx="1485534" cy="512064"/>
          </a:xfrm>
          <a:prstGeom prst="roundRect">
            <a:avLst/>
          </a:prstGeom>
          <a:solidFill>
            <a:srgbClr val="8F2C1E"/>
          </a:solidFill>
          <a:ln w="12700">
            <a:solidFill>
              <a:srgbClr val="E0453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978542" y="4050791"/>
            <a:ext cx="133923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肌肉按组数着色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90924" y="4050791"/>
            <a:ext cx="219456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▸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610380" y="4050791"/>
            <a:ext cx="1485534" cy="512064"/>
          </a:xfrm>
          <a:prstGeom prst="roundRect">
            <a:avLst/>
          </a:prstGeom>
          <a:solidFill>
            <a:srgbClr val="14171B"/>
          </a:solidFill>
          <a:ln w="12700">
            <a:solidFill>
              <a:srgbClr val="262B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83532" y="4050791"/>
            <a:ext cx="133923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悬停看容量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95914" y="4050791"/>
            <a:ext cx="219456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▸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315370" y="4050791"/>
            <a:ext cx="1485534" cy="512064"/>
          </a:xfrm>
          <a:prstGeom prst="roundRect">
            <a:avLst/>
          </a:prstGeom>
          <a:solidFill>
            <a:srgbClr val="14171B"/>
          </a:solidFill>
          <a:ln w="12700">
            <a:solidFill>
              <a:srgbClr val="262B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388522" y="4050791"/>
            <a:ext cx="133923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点击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800904" y="4050791"/>
            <a:ext cx="219456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▸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0020360" y="4050791"/>
            <a:ext cx="1485534" cy="512064"/>
          </a:xfrm>
          <a:prstGeom prst="roundRect">
            <a:avLst/>
          </a:prstGeom>
          <a:solidFill>
            <a:srgbClr val="8F2C1E"/>
          </a:solidFill>
          <a:ln w="12700">
            <a:solidFill>
              <a:srgbClr val="E0453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093512" y="4050791"/>
            <a:ext cx="133923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加入今天训练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5800" y="4800599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② 的四个入口（拍照 / 搜索 / 外卖截图 / 粘贴订单文本）殊途同归，最后都落到同一张条目表、走同一套「草稿 → 确认 → 入库」。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045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界面与视觉：只做深色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108200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厚重感来自对比与留白，不是装饰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09344"/>
            <a:ext cx="10820095" cy="10058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5797296"/>
            <a:ext cx="10820095" cy="10058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17175" y="592531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15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842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底色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67128" y="198424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#0D0F12 近黑 · 面板 #14171B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98424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只用 1px 细线分层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322576"/>
            <a:ext cx="10820095" cy="8229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4597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强调色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67128" y="2459736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#E0453A 唯一暖红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45973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肌肉高亮、主按钮、进度条共用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798064"/>
            <a:ext cx="10820095" cy="8229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9352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字重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67128" y="293522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标题 800 并压字距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93522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重量感来自对比，不是整体加粗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273552"/>
            <a:ext cx="10820095" cy="8229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4107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小标签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67128" y="341071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全大写 + 0.16em 字距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41071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承担技术文档的质感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749039"/>
            <a:ext cx="10820095" cy="8229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886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圆角与阴影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67128" y="388620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圆角 4–6px，不用阴影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8862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硬朗的关键就在这一条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4224527"/>
            <a:ext cx="10820095" cy="8229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3616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留白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67128" y="436168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大幅放宽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36168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用空白而不是卡片边框分组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4700015"/>
            <a:ext cx="10820095" cy="8229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928615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不做浅色主题：厚重感一半来自深色底与高对比，再维护一套浅色主题会稀释这个方向，测试成本也翻倍。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045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可行性：不是推测，是真跑过的数字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108200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环境、编译、拾取三组数据都是本机实测，不是估算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09344"/>
            <a:ext cx="10820095" cy="10058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5797296"/>
            <a:ext cx="10820095" cy="10058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17175" y="592531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16 /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65960"/>
            <a:ext cx="3332378" cy="2788920"/>
          </a:xfrm>
          <a:prstGeom prst="roundRect">
            <a:avLst/>
          </a:prstGeom>
          <a:solidFill>
            <a:srgbClr val="14171B"/>
          </a:solidFill>
          <a:ln w="12700">
            <a:solidFill>
              <a:srgbClr val="262B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2148839"/>
            <a:ext cx="285689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环境搭建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514600"/>
            <a:ext cx="285689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453A"/>
                </a:solidFill>
                <a:latin typeface="Microsoft YaHei"/>
                <a:ea typeface="Microsoft YaHei"/>
                <a:cs typeface="Microsoft YaHei"/>
              </a:rPr>
              <a:t>全部落在 E 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2953511"/>
            <a:ext cx="1832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Rust 工具链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56352" y="2953511"/>
            <a:ext cx="133295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5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1.99.0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300983"/>
            <a:ext cx="1832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MSVC 工具集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56352" y="3300983"/>
            <a:ext cx="133295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5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14.44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" y="3648455"/>
            <a:ext cx="1832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cargo 包缓存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56352" y="3648455"/>
            <a:ext cx="133295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5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321 MB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" y="3977639"/>
            <a:ext cx="2856890" cy="8229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" y="4105655"/>
            <a:ext cx="285689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国内源实测：USTC 3.4 MB/s；官方源仅 19 KB/s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29658" y="1965960"/>
            <a:ext cx="3332378" cy="2788920"/>
          </a:xfrm>
          <a:prstGeom prst="roundRect">
            <a:avLst/>
          </a:prstGeom>
          <a:solidFill>
            <a:srgbClr val="14171B"/>
          </a:solidFill>
          <a:ln w="12700">
            <a:solidFill>
              <a:srgbClr val="262B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7402" y="2148839"/>
            <a:ext cx="285689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Tauri 冒烟测试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7402" y="2514600"/>
            <a:ext cx="285689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453A"/>
                </a:solidFill>
                <a:latin typeface="Microsoft YaHei"/>
                <a:ea typeface="Microsoft YaHei"/>
                <a:cs typeface="Microsoft YaHei"/>
              </a:rPr>
              <a:t>全链路通过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7402" y="2953511"/>
            <a:ext cx="1832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首次编译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0210" y="2953511"/>
            <a:ext cx="133295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5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1.9 分钟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7402" y="3300983"/>
            <a:ext cx="1832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Tauri 外壳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0210" y="3300983"/>
            <a:ext cx="133295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5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12 MB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7402" y="3648455"/>
            <a:ext cx="1832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精简 JRE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0210" y="3648455"/>
            <a:ext cx="133295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5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47 MB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7402" y="3977639"/>
            <a:ext cx="2856890" cy="8229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7402" y="4105655"/>
            <a:ext cx="285689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完整安装包预计 100–130 MB：外壳 + 自带 JRE + fat jar。仍小于 Electron 的 150 MB 起，但不是数量级差距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73516" y="1965960"/>
            <a:ext cx="3332378" cy="2788920"/>
          </a:xfrm>
          <a:prstGeom prst="roundRect">
            <a:avLst/>
          </a:prstGeom>
          <a:solidFill>
            <a:srgbClr val="14171B"/>
          </a:solidFill>
          <a:ln w="12700">
            <a:solidFill>
              <a:srgbClr val="262B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1260" y="2148839"/>
            <a:ext cx="285689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3D 拾取基准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1260" y="2514600"/>
            <a:ext cx="285689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453A"/>
                </a:solidFill>
                <a:latin typeface="Microsoft YaHei"/>
                <a:ea typeface="Microsoft YaHei"/>
                <a:cs typeface="Microsoft YaHei"/>
              </a:rPr>
              <a:t>240 条射线全命中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1260" y="2953511"/>
            <a:ext cx="1832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原生 Raycaster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4068" y="2953511"/>
            <a:ext cx="133295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5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14.96 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1260" y="3300983"/>
            <a:ext cx="1832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＋ MeshBVH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4068" y="3300983"/>
            <a:ext cx="133295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5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0.203 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1260" y="3648455"/>
            <a:ext cx="1832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合并 + BVH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4068" y="3648455"/>
            <a:ext cx="133295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5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0.06 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11260" y="3977639"/>
            <a:ext cx="2856890" cy="8229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1260" y="4105655"/>
            <a:ext cx="285689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模型：683 个独立命名 mesh，128 万三角形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" y="4937760"/>
            <a:ext cx="10820095" cy="10058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5129783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三组数据全部来自本机实测，没有一个是估算。目前唯一还没验证的是 JDK 25 与 Spring Boot 3.x 的版本搭配——它也是唯一可能推翻现有选型的点，所以排在实施第一步。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045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风险与排期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108200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七个风险里只有一个需要立刻处理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09344"/>
            <a:ext cx="10820095" cy="10058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5797296"/>
            <a:ext cx="10820095" cy="10058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17175" y="592531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17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39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JDK 25 与 Spring Boot 3.x 搭配未验证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1920239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E0453A"/>
                </a:solidFill>
                <a:latin typeface="Microsoft YaHei"/>
                <a:ea typeface="Microsoft YaHei"/>
                <a:cs typeface="Microsoft YaHei"/>
              </a:rPr>
              <a:t>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920239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动工第一步就跑最小骨架验证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148839"/>
            <a:ext cx="10820095" cy="8229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249423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Java 生态没有成熟可抄的健身项目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249423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249423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照 wger 思路用 Java 重写，正是学习价值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478023"/>
            <a:ext cx="10820095" cy="8229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578607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LangChain4j 迭代极快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2578607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578607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锁版本 + BOM；以英文文档为准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2807207"/>
            <a:ext cx="10820095" cy="8229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907791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拍照估热量不够准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2907791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907791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定位为估算 + 一句话修正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136391"/>
            <a:ext cx="10820095" cy="8229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236975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朋友的电脑没有 JDK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3236975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236975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自带 47 MB 精简 JRE；首次启动向导配数据目录与模型 key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3465575"/>
            <a:ext cx="10820095" cy="8229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566159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Redis 在虚拟机上，常关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3566159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566159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无缓存是常态路径；超时压到 300 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3794759"/>
            <a:ext cx="10820095" cy="8229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3895343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CC BY-SA 的 ShareAlike 传染性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3895343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3895343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自用无碍；一旦分发则整体须 CC BY-SA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4123943"/>
            <a:ext cx="10820095" cy="8229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315967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两阶段排期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4626864"/>
            <a:ext cx="10820095" cy="566928"/>
          </a:xfrm>
          <a:prstGeom prst="roundRect">
            <a:avLst/>
          </a:prstGeom>
          <a:solidFill>
            <a:srgbClr val="14171B"/>
          </a:solidFill>
          <a:ln w="12700">
            <a:solidFill>
              <a:srgbClr val="262B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85800" y="4626864"/>
            <a:ext cx="45720" cy="566928"/>
          </a:xfrm>
          <a:prstGeom prst="rect">
            <a:avLst/>
          </a:prstGeom>
          <a:solidFill>
            <a:srgbClr val="E045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681727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0453A"/>
                </a:solidFill>
                <a:latin typeface="Microsoft YaHei"/>
                <a:ea typeface="Microsoft YaHei"/>
                <a:cs typeface="Microsoft YaHei"/>
              </a:rPr>
              <a:t>第一阶段 · 10 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" y="4919472"/>
            <a:ext cx="10058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最小骨架 → 数据层 → 动作库 → 训练 → 饮食 → 智能体 → 身体数据 → 人体图 2D → Redis 缓存 → 打包分发（自带 JRE）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64040" y="4681727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能天天用，也能发给朋友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5800" y="5285231"/>
            <a:ext cx="10820095" cy="566928"/>
          </a:xfrm>
          <a:prstGeom prst="roundRect">
            <a:avLst/>
          </a:prstGeom>
          <a:solidFill>
            <a:srgbClr val="14171B"/>
          </a:solidFill>
          <a:ln w="12700">
            <a:solidFill>
              <a:srgbClr val="262B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85800" y="5285231"/>
            <a:ext cx="45720" cy="566928"/>
          </a:xfrm>
          <a:prstGeom prst="rect">
            <a:avLst/>
          </a:prstGeom>
          <a:solidFill>
            <a:srgbClr val="8B93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5256" y="5340095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第二阶段 · 8–14 人日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" y="5577840"/>
            <a:ext cx="10058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模型管线 → 合并几何 + BVH 拾取 → 热力图着色 → Tauri 集成调优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64040" y="5340095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只替换渲染层，其余一律不动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045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560320"/>
            <a:ext cx="10820095" cy="8229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999232"/>
            <a:ext cx="548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0453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999232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写实施计划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3017520"/>
            <a:ext cx="6766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把第一阶段十步拆成可执行的计划，每步带验收标准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511295"/>
            <a:ext cx="10820095" cy="8229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712463"/>
            <a:ext cx="548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0453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712463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先验证版本搭配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730751"/>
            <a:ext cx="6766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JDK 25 + Spring Boot 3.x + LangChain4j 最小骨架跑通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224528"/>
            <a:ext cx="10820095" cy="8229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425696"/>
            <a:ext cx="548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0453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425696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CEEF1"/>
                </a:solidFill>
                <a:latin typeface="Microsoft YaHei"/>
                <a:ea typeface="Microsoft YaHei"/>
                <a:cs typeface="Microsoft YaHei"/>
              </a:rPr>
              <a:t>再动数据层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443983"/>
            <a:ext cx="6766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39D"/>
                </a:solidFill>
                <a:latin typeface="Microsoft YaHei"/>
                <a:ea typeface="Microsoft YaHei"/>
                <a:cs typeface="Microsoft YaHei"/>
              </a:rPr>
              <a:t>十五张表 + Flyway 迁移，然后动作库导入与中文翻译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5797296"/>
            <a:ext cx="10820095" cy="10058"/>
          </a:xfrm>
          <a:prstGeom prst="rect">
            <a:avLst/>
          </a:prstGeom>
          <a:solidFill>
            <a:srgbClr val="262B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92531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全部设计细节见 docs/superpowers/specs/2026-10-14-change-design.md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17175" y="592531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480"/>
                </a:solidFill>
                <a:latin typeface="Microsoft YaHei"/>
                <a:ea typeface="Microsoft YaHei"/>
                <a:cs typeface="Microsoft YaHei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