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E04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13232"/>
            <a:ext cx="8229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D5762"/>
                </a:solidFill>
                <a:latin typeface="Microsoft YaHei"/>
                <a:ea typeface="Consolas"/>
                <a:cs typeface="Consolas"/>
              </a:rPr>
              <a:t>CHANGE · 界面原型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4754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>
                <a:solidFill>
                  <a:srgbClr val="E9EDF1"/>
                </a:solidFill>
                <a:latin typeface="Consolas"/>
                <a:ea typeface="Consolas"/>
                <a:cs typeface="Consolas"/>
              </a:rPr>
              <a:t>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04288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E9EDF1"/>
                </a:solidFill>
                <a:latin typeface="Microsoft YaHei"/>
                <a:ea typeface="Consolas"/>
                <a:cs typeface="Consolas"/>
              </a:rPr>
              <a:t>一个只属于你的训练记录本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889504"/>
            <a:ext cx="1280160" cy="32004"/>
          </a:xfrm>
          <a:prstGeom prst="rect">
            <a:avLst/>
          </a:prstGeom>
          <a:solidFill>
            <a:srgbClr val="E04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145536"/>
            <a:ext cx="4480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95"/>
              </a:spcBef>
              <a:spcAft>
                <a:spcPts val="195"/>
              </a:spcAft>
            </a:pPr>
            <a:r>
              <a:rPr sz="125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本地优先 · 断网也能完整使用</a:t>
            </a:r>
          </a:p>
          <a:p>
            <a:pPr algn="l">
              <a:spcBef>
                <a:spcPts val="195"/>
              </a:spcBef>
              <a:spcAft>
                <a:spcPts val="195"/>
              </a:spcAft>
            </a:pPr>
            <a:r>
              <a:rPr sz="125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876 个动作 · 871 条中文分步做法</a:t>
            </a:r>
          </a:p>
          <a:p>
            <a:pPr algn="l">
              <a:spcBef>
                <a:spcPts val="195"/>
              </a:spcBef>
              <a:spcAft>
                <a:spcPts val="195"/>
              </a:spcAft>
            </a:pPr>
            <a:r>
              <a:rPr sz="125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17 块肌群 · 按本周训练量着色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38928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D5762"/>
                </a:solidFill>
                <a:latin typeface="Microsoft YaHei"/>
                <a:ea typeface="Consolas"/>
                <a:cs typeface="Consolas"/>
              </a:rPr>
              <a:t>这七张界面是 HTML 一比一渲染的，
不是手绘示意图。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00116" y="1156716"/>
            <a:ext cx="6327648" cy="4078224"/>
          </a:xfrm>
          <a:prstGeom prst="roundRect">
            <a:avLst/>
          </a:prstGeom>
          <a:solidFill>
            <a:srgbClr val="2F39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017d997b13f5fe73ccc7d3fb72351a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1188720"/>
            <a:ext cx="6263640" cy="401421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532120" y="5303520"/>
            <a:ext cx="6263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D5762"/>
                </a:solidFill>
                <a:latin typeface="Microsoft YaHei"/>
                <a:ea typeface="Consolas"/>
                <a:cs typeface="Consolas"/>
              </a:rPr>
              <a:t>人体图 · 真实 SVG · 89 个区域 · 按本周组数着色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32120" y="5806440"/>
            <a:ext cx="6263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D5762"/>
                </a:solidFill>
                <a:latin typeface="Consolas"/>
                <a:ea typeface="Consolas"/>
                <a:cs typeface="Consolas"/>
              </a:rPr>
              <a:t>v0.1 · 2026-10-20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8229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D5762"/>
                </a:solidFill>
                <a:latin typeface="Microsoft YaHei"/>
                <a:ea typeface="Consolas"/>
                <a:cs typeface="Consolas"/>
              </a:rPr>
              <a:t>设计语言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86384"/>
            <a:ext cx="109115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EDF1"/>
                </a:solidFill>
                <a:latin typeface="Microsoft YaHei"/>
                <a:ea typeface="Consolas"/>
                <a:cs typeface="Consolas"/>
              </a:rPr>
              <a:t>为什么现在显得「素」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35024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不是缺颜色，是缺层级：现在只有「底色 + 一条描边」，所有东西都在同一层。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700784"/>
            <a:ext cx="1280160" cy="32004"/>
          </a:xfrm>
          <a:prstGeom prst="rect">
            <a:avLst/>
          </a:prstGeom>
          <a:solidFill>
            <a:srgbClr val="E04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E9EDF1"/>
                </a:solidFill>
                <a:latin typeface="Microsoft YaHei"/>
                <a:ea typeface="Consolas"/>
                <a:cs typeface="Consolas"/>
              </a:rPr>
              <a:t>① 加三层表面 + 一条顶边高光，靠层级分层而不是靠描边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2286000"/>
            <a:ext cx="548640" cy="329184"/>
          </a:xfrm>
          <a:prstGeom prst="roundRect">
            <a:avLst/>
          </a:prstGeom>
          <a:solidFill>
            <a:srgbClr val="0B0E11"/>
          </a:solidFill>
          <a:ln w="12700">
            <a:solidFill>
              <a:srgbClr val="2F394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6464" y="228600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9EDF1"/>
                </a:solidFill>
                <a:latin typeface="Consolas"/>
                <a:ea typeface="Consolas"/>
                <a:cs typeface="Consolas"/>
              </a:rPr>
              <a:t>--bg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6464" y="2459736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4D5762"/>
                </a:solidFill>
                <a:latin typeface="Consolas"/>
                <a:ea typeface="Consolas"/>
                <a:cs typeface="Consolas"/>
              </a:rPr>
              <a:t>#0B0E11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0672" y="2350008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页面底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784348"/>
            <a:ext cx="548640" cy="329184"/>
          </a:xfrm>
          <a:prstGeom prst="roundRect">
            <a:avLst/>
          </a:prstGeom>
          <a:solidFill>
            <a:srgbClr val="11151A"/>
          </a:solidFill>
          <a:ln w="12700">
            <a:solidFill>
              <a:srgbClr val="2F394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26464" y="278434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9EDF1"/>
                </a:solidFill>
                <a:latin typeface="Consolas"/>
                <a:ea typeface="Consolas"/>
                <a:cs typeface="Consolas"/>
              </a:rPr>
              <a:t>--surface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26464" y="2958084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4D5762"/>
                </a:solidFill>
                <a:latin typeface="Consolas"/>
                <a:ea typeface="Consolas"/>
                <a:cs typeface="Consolas"/>
              </a:rPr>
              <a:t>#11151A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0672" y="2848356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卡片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8" y="3282696"/>
            <a:ext cx="548640" cy="329184"/>
          </a:xfrm>
          <a:prstGeom prst="roundRect">
            <a:avLst/>
          </a:prstGeom>
          <a:solidFill>
            <a:srgbClr val="171C22"/>
          </a:solidFill>
          <a:ln w="12700">
            <a:solidFill>
              <a:srgbClr val="2F394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26464" y="328269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9EDF1"/>
                </a:solidFill>
                <a:latin typeface="Consolas"/>
                <a:ea typeface="Consolas"/>
                <a:cs typeface="Consolas"/>
              </a:rPr>
              <a:t>--raised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26464" y="3456432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4D5762"/>
                </a:solidFill>
                <a:latin typeface="Consolas"/>
                <a:ea typeface="Consolas"/>
                <a:cs typeface="Consolas"/>
              </a:rPr>
              <a:t>#171C22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90672" y="3346703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卡片里的块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781044"/>
            <a:ext cx="548640" cy="329184"/>
          </a:xfrm>
          <a:prstGeom prst="roundRect">
            <a:avLst/>
          </a:prstGeom>
          <a:solidFill>
            <a:srgbClr val="222A32"/>
          </a:solidFill>
          <a:ln w="12700">
            <a:solidFill>
              <a:srgbClr val="2F394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6464" y="378104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9EDF1"/>
                </a:solidFill>
                <a:latin typeface="Consolas"/>
                <a:ea typeface="Consolas"/>
                <a:cs typeface="Consolas"/>
              </a:rPr>
              <a:t>--line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26464" y="3954780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4D5762"/>
                </a:solidFill>
                <a:latin typeface="Consolas"/>
                <a:ea typeface="Consolas"/>
                <a:cs typeface="Consolas"/>
              </a:rPr>
              <a:t>#222A32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90672" y="3845052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分隔线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9808" y="4279392"/>
            <a:ext cx="548640" cy="329184"/>
          </a:xfrm>
          <a:prstGeom prst="roundRect">
            <a:avLst/>
          </a:prstGeom>
          <a:solidFill>
            <a:srgbClr val="2F3944"/>
          </a:solidFill>
          <a:ln w="12700">
            <a:solidFill>
              <a:srgbClr val="2F394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26464" y="427939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9EDF1"/>
                </a:solidFill>
                <a:latin typeface="Consolas"/>
                <a:ea typeface="Consolas"/>
                <a:cs typeface="Consolas"/>
              </a:rPr>
              <a:t>--line-hi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26464" y="445312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4D5762"/>
                </a:solidFill>
                <a:latin typeface="Consolas"/>
                <a:ea typeface="Consolas"/>
                <a:cs typeface="Consolas"/>
              </a:rPr>
              <a:t>#2F3944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90672" y="4343400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卡片顶边高光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4777740"/>
            <a:ext cx="548640" cy="329184"/>
          </a:xfrm>
          <a:prstGeom prst="roundRect">
            <a:avLst/>
          </a:prstGeom>
          <a:solidFill>
            <a:srgbClr val="E0453A"/>
          </a:solidFill>
          <a:ln w="12700">
            <a:solidFill>
              <a:srgbClr val="2F394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26464" y="477774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9EDF1"/>
                </a:solidFill>
                <a:latin typeface="Consolas"/>
                <a:ea typeface="Consolas"/>
                <a:cs typeface="Consolas"/>
              </a:rPr>
              <a:t>--accent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26464" y="4951476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4D5762"/>
                </a:solidFill>
                <a:latin typeface="Consolas"/>
                <a:ea typeface="Consolas"/>
                <a:cs typeface="Consolas"/>
              </a:rPr>
              <a:t>#E0453A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90672" y="4841748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数据与选中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5276088"/>
            <a:ext cx="548640" cy="329184"/>
          </a:xfrm>
          <a:prstGeom prst="roundRect">
            <a:avLst/>
          </a:prstGeom>
          <a:solidFill>
            <a:srgbClr val="3FB950"/>
          </a:solidFill>
          <a:ln w="12700">
            <a:solidFill>
              <a:srgbClr val="2F394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26464" y="527608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9EDF1"/>
                </a:solidFill>
                <a:latin typeface="Consolas"/>
                <a:ea typeface="Consolas"/>
                <a:cs typeface="Consolas"/>
              </a:rPr>
              <a:t>--ok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26464" y="5449824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4D5762"/>
                </a:solidFill>
                <a:latin typeface="Consolas"/>
                <a:ea typeface="Consolas"/>
                <a:cs typeface="Consolas"/>
              </a:rPr>
              <a:t>#3FB950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0672" y="5340096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达标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9808" y="5774436"/>
            <a:ext cx="548640" cy="329184"/>
          </a:xfrm>
          <a:prstGeom prst="roundRect">
            <a:avLst/>
          </a:prstGeom>
          <a:solidFill>
            <a:srgbClr val="D29922"/>
          </a:solidFill>
          <a:ln w="12700">
            <a:solidFill>
              <a:srgbClr val="2F394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26464" y="577443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9EDF1"/>
                </a:solidFill>
                <a:latin typeface="Consolas"/>
                <a:ea typeface="Consolas"/>
                <a:cs typeface="Consolas"/>
              </a:rPr>
              <a:t>--warn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26464" y="5948172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4D5762"/>
                </a:solidFill>
                <a:latin typeface="Consolas"/>
                <a:ea typeface="Consolas"/>
                <a:cs typeface="Consolas"/>
              </a:rPr>
              <a:t>#D29922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90672" y="5838444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提醒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1920240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E0453A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0" y="193852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E9EDF1"/>
                </a:solidFill>
                <a:latin typeface="Microsoft YaHei"/>
                <a:ea typeface="Consolas"/>
                <a:cs typeface="Consolas"/>
              </a:rPr>
              <a:t>数字用等宽大字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0" y="2286000"/>
            <a:ext cx="4389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105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容量、组数、热量是这几页真正的主角。46pt 等宽数字 + 小号单位，眼睛先看到数，再看到字。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5080" y="3383280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E0453A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40880" y="340156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E9EDF1"/>
                </a:solidFill>
                <a:latin typeface="Microsoft YaHei"/>
                <a:ea typeface="Consolas"/>
                <a:cs typeface="Consolas"/>
              </a:rPr>
              <a:t>红色只给「数据」与「正在发生」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0880" y="3749040"/>
            <a:ext cx="4389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105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不做装饰色。达标用绿、提醒用黄，红只出现在「这是你的数」和「这个被选中」。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55080" y="4846320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E0453A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40880" y="486460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E9EDF1"/>
                </a:solidFill>
                <a:latin typeface="Microsoft YaHei"/>
                <a:ea typeface="Consolas"/>
                <a:cs typeface="Consolas"/>
              </a:rPr>
              <a:t>每页至少一张微型图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40880" y="5212080"/>
            <a:ext cx="4389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105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17 格热力条、环形进度、sparkline、分段条。图比文字更快回答「我这周怎么样」。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56032"/>
            <a:ext cx="8229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D5762"/>
                </a:solidFill>
                <a:latin typeface="Microsoft YaHei"/>
                <a:ea typeface="Consolas"/>
                <a:cs typeface="Consolas"/>
              </a:rPr>
              <a:t>界面原型 · 01 /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75488"/>
            <a:ext cx="1125900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9EDF1"/>
                </a:solidFill>
                <a:latin typeface="Microsoft YaHei"/>
                <a:ea typeface="Consolas"/>
                <a:cs typeface="Consolas"/>
              </a:rPr>
              <a:t>今日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950976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一张卡回答「这周练够了吗」，另一张回答「今天吃够了吗」。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2044" y="1248156"/>
            <a:ext cx="8586216" cy="5522976"/>
          </a:xfrm>
          <a:prstGeom prst="roundRect">
            <a:avLst/>
          </a:prstGeom>
          <a:solidFill>
            <a:srgbClr val="2F39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21ef82619e18336e52e63259ed5259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8522208" cy="54589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281160" y="1335024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D5762"/>
                </a:solidFill>
                <a:latin typeface="Microsoft YaHei"/>
                <a:ea typeface="Consolas"/>
                <a:cs typeface="Consolas"/>
              </a:rPr>
              <a:t>这一页在解决什么</a:t>
            </a:r>
          </a:p>
        </p:txBody>
      </p:sp>
      <p:sp>
        <p:nvSpPr>
          <p:cNvPr id="9" name="Rectangle 8"/>
          <p:cNvSpPr/>
          <p:nvPr/>
        </p:nvSpPr>
        <p:spPr>
          <a:xfrm>
            <a:off x="9281160" y="1609344"/>
            <a:ext cx="822960" cy="32004"/>
          </a:xfrm>
          <a:prstGeom prst="rect">
            <a:avLst/>
          </a:prstGeom>
          <a:solidFill>
            <a:srgbClr val="2F39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81160" y="1792224"/>
            <a:ext cx="3291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0453A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81160" y="2048256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5"/>
              </a:spcBef>
              <a:spcAft>
                <a:spcPts val="145"/>
              </a:spcAft>
            </a:pPr>
            <a:r>
              <a:rPr sz="100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17 格热力条 = 17 块肌群，红得越深本周练得越多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81160" y="2816352"/>
            <a:ext cx="3291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0453A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1160" y="3072384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5"/>
              </a:spcBef>
              <a:spcAft>
                <a:spcPts val="145"/>
              </a:spcAft>
            </a:pPr>
            <a:r>
              <a:rPr sz="100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容量同时给「16 组」与「折合 42.5 组」两个口径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81160" y="3840480"/>
            <a:ext cx="3291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0453A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81160" y="4096512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5"/>
              </a:spcBef>
              <a:spcAft>
                <a:spcPts val="145"/>
              </a:spcAft>
            </a:pPr>
            <a:r>
              <a:rPr sz="100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最近训练与本周小结共用一个卡，不留空白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81160" y="4956048"/>
            <a:ext cx="2514600" cy="32004"/>
          </a:xfrm>
          <a:prstGeom prst="rect">
            <a:avLst/>
          </a:prstGeom>
          <a:solidFill>
            <a:srgbClr val="222A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81160" y="5084064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D5762"/>
                </a:solidFill>
                <a:latin typeface="Microsoft YaHei"/>
                <a:ea typeface="Consolas"/>
                <a:cs typeface="Consolas"/>
              </a:rPr>
              <a:t>离这个原型还差什么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5376672"/>
            <a:ext cx="2514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1000" b="0">
                <a:solidFill>
                  <a:srgbClr val="E9EDF1"/>
                </a:solidFill>
                <a:latin typeface="Microsoft YaHei"/>
                <a:ea typeface="Consolas"/>
                <a:cs typeface="Consolas"/>
              </a:rPr>
              <a:t>首页现在只有一张 VolumePanel（17 行文字），热力条与小结条都还没有。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56032"/>
            <a:ext cx="8229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D5762"/>
                </a:solidFill>
                <a:latin typeface="Microsoft YaHei"/>
                <a:ea typeface="Consolas"/>
                <a:cs typeface="Consolas"/>
              </a:rPr>
              <a:t>界面原型 · 02 /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75488"/>
            <a:ext cx="1125900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9EDF1"/>
                </a:solidFill>
                <a:latin typeface="Microsoft YaHei"/>
                <a:ea typeface="Consolas"/>
                <a:cs typeface="Consolas"/>
              </a:rPr>
              <a:t>训练记录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950976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选肌群 → 选动作 → 填组。点「看做法」开抽屉，不离开这一页。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2044" y="1248156"/>
            <a:ext cx="8586216" cy="5522976"/>
          </a:xfrm>
          <a:prstGeom prst="roundRect">
            <a:avLst/>
          </a:prstGeom>
          <a:solidFill>
            <a:srgbClr val="2F39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f375e00f068f569cd20b0a158a772f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8522208" cy="54589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281160" y="1335024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D5762"/>
                </a:solidFill>
                <a:latin typeface="Microsoft YaHei"/>
                <a:ea typeface="Consolas"/>
                <a:cs typeface="Consolas"/>
              </a:rPr>
              <a:t>这一页在解决什么</a:t>
            </a:r>
          </a:p>
        </p:txBody>
      </p:sp>
      <p:sp>
        <p:nvSpPr>
          <p:cNvPr id="9" name="Rectangle 8"/>
          <p:cNvSpPr/>
          <p:nvPr/>
        </p:nvSpPr>
        <p:spPr>
          <a:xfrm>
            <a:off x="9281160" y="1609344"/>
            <a:ext cx="822960" cy="32004"/>
          </a:xfrm>
          <a:prstGeom prst="rect">
            <a:avLst/>
          </a:prstGeom>
          <a:solidFill>
            <a:srgbClr val="2F39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81160" y="1792224"/>
            <a:ext cx="3291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0453A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81160" y="2048256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5"/>
              </a:spcBef>
              <a:spcAft>
                <a:spcPts val="145"/>
              </a:spcAft>
            </a:pPr>
            <a:r>
              <a:rPr sz="100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抽屉里的分步做法用序号圆点，段数就是步骤数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81160" y="2816352"/>
            <a:ext cx="3291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0453A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1160" y="3072384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5"/>
              </a:spcBef>
              <a:spcAft>
                <a:spcPts val="145"/>
              </a:spcAft>
            </a:pPr>
            <a:r>
              <a:rPr sz="100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已填的组在抽屉打开时原样保留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81160" y="3840480"/>
            <a:ext cx="3291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0453A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81160" y="4096512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5"/>
              </a:spcBef>
              <a:spcAft>
                <a:spcPts val="145"/>
              </a:spcAft>
            </a:pPr>
            <a:r>
              <a:rPr sz="100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两个搜索链接可复制，不在应用里播视频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81160" y="4956048"/>
            <a:ext cx="2514600" cy="32004"/>
          </a:xfrm>
          <a:prstGeom prst="rect">
            <a:avLst/>
          </a:prstGeom>
          <a:solidFill>
            <a:srgbClr val="222A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81160" y="5084064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D5762"/>
                </a:solidFill>
                <a:latin typeface="Microsoft YaHei"/>
                <a:ea typeface="Consolas"/>
                <a:cs typeface="Consolas"/>
              </a:rPr>
              <a:t>离这个原型还差什么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5376672"/>
            <a:ext cx="2514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1000" b="0">
                <a:solidFill>
                  <a:srgbClr val="E9EDF1"/>
                </a:solidFill>
                <a:latin typeface="Microsoft YaHei"/>
                <a:ea typeface="Consolas"/>
                <a:cs typeface="Consolas"/>
              </a:rPr>
              <a:t>抽屉已经实现了。缺的是「上次成绩」提示与按使用频率排序。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56032"/>
            <a:ext cx="8229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D5762"/>
                </a:solidFill>
                <a:latin typeface="Microsoft YaHei"/>
                <a:ea typeface="Consolas"/>
                <a:cs typeface="Consolas"/>
              </a:rPr>
              <a:t>界面原型 · 03 /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75488"/>
            <a:ext cx="1125900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9EDF1"/>
                </a:solidFill>
                <a:latin typeface="Microsoft YaHei"/>
                <a:ea typeface="Consolas"/>
                <a:cs typeface="Consolas"/>
              </a:rPr>
              <a:t>人体图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950976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训练均衡度仪表盘：哪块练多了、哪块漏了，一眼看出来。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2044" y="1248156"/>
            <a:ext cx="8586216" cy="5522976"/>
          </a:xfrm>
          <a:prstGeom prst="roundRect">
            <a:avLst/>
          </a:prstGeom>
          <a:solidFill>
            <a:srgbClr val="2F39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0f1717827926cc3d65def256b42eab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8522208" cy="54589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281160" y="1335024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D5762"/>
                </a:solidFill>
                <a:latin typeface="Microsoft YaHei"/>
                <a:ea typeface="Consolas"/>
                <a:cs typeface="Consolas"/>
              </a:rPr>
              <a:t>这一页在解决什么</a:t>
            </a:r>
          </a:p>
        </p:txBody>
      </p:sp>
      <p:sp>
        <p:nvSpPr>
          <p:cNvPr id="9" name="Rectangle 8"/>
          <p:cNvSpPr/>
          <p:nvPr/>
        </p:nvSpPr>
        <p:spPr>
          <a:xfrm>
            <a:off x="9281160" y="1609344"/>
            <a:ext cx="822960" cy="32004"/>
          </a:xfrm>
          <a:prstGeom prst="rect">
            <a:avLst/>
          </a:prstGeom>
          <a:solidFill>
            <a:srgbClr val="2F39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81160" y="1792224"/>
            <a:ext cx="3291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0453A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81160" y="2048256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5"/>
              </a:spcBef>
              <a:spcAft>
                <a:spcPts val="145"/>
              </a:spcAft>
            </a:pPr>
            <a:r>
              <a:rPr sz="100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正面 + 背面，89 个区域真实 SVG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81160" y="2816352"/>
            <a:ext cx="3291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0453A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1160" y="3072384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5"/>
              </a:spcBef>
              <a:spcAft>
                <a:spcPts val="145"/>
              </a:spcAft>
            </a:pPr>
            <a:r>
              <a:rPr sz="100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点一块 → 右侧给该肌群的容量与动作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81160" y="3840480"/>
            <a:ext cx="3291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0453A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81160" y="4096512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5"/>
              </a:spcBef>
              <a:spcAft>
                <a:spcPts val="145"/>
              </a:spcAft>
            </a:pPr>
            <a:r>
              <a:rPr sz="100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三种口径：本周组数 / 恢复中 / 长期未练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81160" y="4956048"/>
            <a:ext cx="2514600" cy="32004"/>
          </a:xfrm>
          <a:prstGeom prst="rect">
            <a:avLst/>
          </a:prstGeom>
          <a:solidFill>
            <a:srgbClr val="222A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81160" y="5084064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D5762"/>
                </a:solidFill>
                <a:latin typeface="Microsoft YaHei"/>
                <a:ea typeface="Consolas"/>
                <a:cs typeface="Consolas"/>
              </a:rPr>
              <a:t>离这个原型还差什么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5376672"/>
            <a:ext cx="2514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1000" b="0">
                <a:solidFill>
                  <a:srgbClr val="E9EDF1"/>
                </a:solidFill>
                <a:latin typeface="Microsoft YaHei"/>
                <a:ea typeface="Consolas"/>
                <a:cs typeface="Consolas"/>
              </a:rPr>
              <a:t>已经实现了。缺的是把 17 格热力条也用上（首页还没用），以及「恢复中」的加权口径。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56032"/>
            <a:ext cx="8229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D5762"/>
                </a:solidFill>
                <a:latin typeface="Microsoft YaHei"/>
                <a:ea typeface="Consolas"/>
                <a:cs typeface="Consolas"/>
              </a:rPr>
              <a:t>界面原型 · 04 /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75488"/>
            <a:ext cx="1125900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9EDF1"/>
                </a:solidFill>
                <a:latin typeface="Microsoft YaHei"/>
                <a:ea typeface="Consolas"/>
                <a:cs typeface="Consolas"/>
              </a:rPr>
              <a:t>进步曲线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950976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同一个动作三条曲线分开画 —— 量纲不同，叠在一起会互相压平。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2044" y="1248156"/>
            <a:ext cx="8586216" cy="5522976"/>
          </a:xfrm>
          <a:prstGeom prst="roundRect">
            <a:avLst/>
          </a:prstGeom>
          <a:solidFill>
            <a:srgbClr val="2F39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ca4d5cfefdf1a32269e613a4b02a3f6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8522208" cy="54589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281160" y="1335024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D5762"/>
                </a:solidFill>
                <a:latin typeface="Microsoft YaHei"/>
                <a:ea typeface="Consolas"/>
                <a:cs typeface="Consolas"/>
              </a:rPr>
              <a:t>这一页在解决什么</a:t>
            </a:r>
          </a:p>
        </p:txBody>
      </p:sp>
      <p:sp>
        <p:nvSpPr>
          <p:cNvPr id="9" name="Rectangle 8"/>
          <p:cNvSpPr/>
          <p:nvPr/>
        </p:nvSpPr>
        <p:spPr>
          <a:xfrm>
            <a:off x="9281160" y="1609344"/>
            <a:ext cx="822960" cy="32004"/>
          </a:xfrm>
          <a:prstGeom prst="rect">
            <a:avLst/>
          </a:prstGeom>
          <a:solidFill>
            <a:srgbClr val="2F39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81160" y="1792224"/>
            <a:ext cx="3291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0453A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81160" y="2048256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5"/>
              </a:spcBef>
              <a:spcAft>
                <a:spcPts val="145"/>
              </a:spcAft>
            </a:pPr>
            <a:r>
              <a:rPr sz="100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估算 1RM / 最大重量 / 总吨位，各一张小图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81160" y="2816352"/>
            <a:ext cx="3291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0453A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1160" y="3072384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5"/>
              </a:spcBef>
              <a:spcAft>
                <a:spcPts val="145"/>
              </a:spcAft>
            </a:pPr>
            <a:r>
              <a:rPr sz="100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每张带大数字与六周变化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81160" y="3840480"/>
            <a:ext cx="3291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0453A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81160" y="4096512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5"/>
              </a:spcBef>
              <a:spcAft>
                <a:spcPts val="145"/>
              </a:spcAft>
            </a:pPr>
            <a:r>
              <a:rPr sz="100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只算 12 次以内的组，算不出的日子折线断开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81160" y="4956048"/>
            <a:ext cx="2514600" cy="32004"/>
          </a:xfrm>
          <a:prstGeom prst="rect">
            <a:avLst/>
          </a:prstGeom>
          <a:solidFill>
            <a:srgbClr val="222A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81160" y="5084064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D5762"/>
                </a:solidFill>
                <a:latin typeface="Microsoft YaHei"/>
                <a:ea typeface="Consolas"/>
                <a:cs typeface="Consolas"/>
              </a:rPr>
              <a:t>离这个原型还差什么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5376672"/>
            <a:ext cx="2514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1000" b="0">
                <a:solidFill>
                  <a:srgbClr val="E9EDF1"/>
                </a:solidFill>
                <a:latin typeface="Microsoft YaHei"/>
                <a:ea typeface="Consolas"/>
                <a:cs typeface="Consolas"/>
              </a:rPr>
              <a:t>三条曲线已经实现了。缺的是大数字与「六周变化」那句话。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56032"/>
            <a:ext cx="8229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D5762"/>
                </a:solidFill>
                <a:latin typeface="Microsoft YaHei"/>
                <a:ea typeface="Consolas"/>
                <a:cs typeface="Consolas"/>
              </a:rPr>
              <a:t>界面原型 · 05 /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75488"/>
            <a:ext cx="1125900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9EDF1"/>
                </a:solidFill>
                <a:latin typeface="Microsoft YaHei"/>
                <a:ea typeface="Consolas"/>
                <a:cs typeface="Consolas"/>
              </a:rPr>
              <a:t>身体数据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950976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九项指标，每周记一两次就够。没记过显示「—」，不是 0。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2044" y="1248156"/>
            <a:ext cx="8586216" cy="5522976"/>
          </a:xfrm>
          <a:prstGeom prst="roundRect">
            <a:avLst/>
          </a:prstGeom>
          <a:solidFill>
            <a:srgbClr val="2F39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f4a2c933004e6accdefdc103a6fcd25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8522208" cy="54589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281160" y="1335024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D5762"/>
                </a:solidFill>
                <a:latin typeface="Microsoft YaHei"/>
                <a:ea typeface="Consolas"/>
                <a:cs typeface="Consolas"/>
              </a:rPr>
              <a:t>这一页在解决什么</a:t>
            </a:r>
          </a:p>
        </p:txBody>
      </p:sp>
      <p:sp>
        <p:nvSpPr>
          <p:cNvPr id="9" name="Rectangle 8"/>
          <p:cNvSpPr/>
          <p:nvPr/>
        </p:nvSpPr>
        <p:spPr>
          <a:xfrm>
            <a:off x="9281160" y="1609344"/>
            <a:ext cx="822960" cy="32004"/>
          </a:xfrm>
          <a:prstGeom prst="rect">
            <a:avLst/>
          </a:prstGeom>
          <a:solidFill>
            <a:srgbClr val="2F39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81160" y="1792224"/>
            <a:ext cx="3291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0453A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81160" y="2048256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5"/>
              </a:spcBef>
              <a:spcAft>
                <a:spcPts val="145"/>
              </a:spcAft>
            </a:pPr>
            <a:r>
              <a:rPr sz="100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九张当前值卡 + 时间线，一屏看完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81160" y="2816352"/>
            <a:ext cx="3291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0453A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1160" y="3072384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5"/>
              </a:spcBef>
              <a:spcAft>
                <a:spcPts val="145"/>
              </a:spcAft>
            </a:pPr>
            <a:r>
              <a:rPr sz="100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变化用 ▲▼ 与颜色，持平用「—」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81160" y="3840480"/>
            <a:ext cx="3291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0453A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81160" y="4096512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5"/>
              </a:spcBef>
              <a:spcAft>
                <a:spcPts val="145"/>
              </a:spcAft>
            </a:pPr>
            <a:r>
              <a:rPr sz="100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录入只管「值 + 日期 + 备注」，单位按类型自动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81160" y="4956048"/>
            <a:ext cx="2514600" cy="32004"/>
          </a:xfrm>
          <a:prstGeom prst="rect">
            <a:avLst/>
          </a:prstGeom>
          <a:solidFill>
            <a:srgbClr val="222A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81160" y="5084064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D5762"/>
                </a:solidFill>
                <a:latin typeface="Microsoft YaHei"/>
                <a:ea typeface="Consolas"/>
                <a:cs typeface="Consolas"/>
              </a:rPr>
              <a:t>离这个原型还差什么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5376672"/>
            <a:ext cx="2514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1000" b="0">
                <a:solidFill>
                  <a:srgbClr val="E9EDF1"/>
                </a:solidFill>
                <a:latin typeface="Microsoft YaHei"/>
                <a:ea typeface="Consolas"/>
                <a:cs typeface="Consolas"/>
              </a:rPr>
              <a:t>当前值卡与时间线已经实现了。缺的是与「上一次」比较算出来的 ▲▼。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56032"/>
            <a:ext cx="8229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D5762"/>
                </a:solidFill>
                <a:latin typeface="Microsoft YaHei"/>
                <a:ea typeface="Consolas"/>
                <a:cs typeface="Consolas"/>
              </a:rPr>
              <a:t>界面原型 · 06 /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75488"/>
            <a:ext cx="1125900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9EDF1"/>
                </a:solidFill>
                <a:latin typeface="Microsoft YaHei"/>
                <a:ea typeface="Consolas"/>
                <a:cs typeface="Consolas"/>
              </a:rPr>
              <a:t>饮食记录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950976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记个大概就行 —— 精度不是目标，可修正是。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2044" y="1248156"/>
            <a:ext cx="8586216" cy="5522976"/>
          </a:xfrm>
          <a:prstGeom prst="roundRect">
            <a:avLst/>
          </a:prstGeom>
          <a:solidFill>
            <a:srgbClr val="2F39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39c984618b65475d36f70a34fa5546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8522208" cy="54589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281160" y="1335024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D5762"/>
                </a:solidFill>
                <a:latin typeface="Microsoft YaHei"/>
                <a:ea typeface="Consolas"/>
                <a:cs typeface="Consolas"/>
              </a:rPr>
              <a:t>这一页在解决什么</a:t>
            </a:r>
          </a:p>
        </p:txBody>
      </p:sp>
      <p:sp>
        <p:nvSpPr>
          <p:cNvPr id="9" name="Rectangle 8"/>
          <p:cNvSpPr/>
          <p:nvPr/>
        </p:nvSpPr>
        <p:spPr>
          <a:xfrm>
            <a:off x="9281160" y="1609344"/>
            <a:ext cx="822960" cy="32004"/>
          </a:xfrm>
          <a:prstGeom prst="rect">
            <a:avLst/>
          </a:prstGeom>
          <a:solidFill>
            <a:srgbClr val="2F39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81160" y="1792224"/>
            <a:ext cx="3291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0453A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81160" y="2048256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5"/>
              </a:spcBef>
              <a:spcAft>
                <a:spcPts val="145"/>
              </a:spcAft>
            </a:pPr>
            <a:r>
              <a:rPr sz="100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今日总热量 + 三段宏量条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81160" y="2816352"/>
            <a:ext cx="3291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0453A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1160" y="3072384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5"/>
              </a:spcBef>
              <a:spcAft>
                <a:spcPts val="145"/>
              </a:spcAft>
            </a:pPr>
            <a:r>
              <a:rPr sz="100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按餐次分组，没记的餐留一行「还没记」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81160" y="3840480"/>
            <a:ext cx="3291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0453A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81160" y="4096512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5"/>
              </a:spcBef>
              <a:spcAft>
                <a:spcPts val="145"/>
              </a:spcAft>
            </a:pPr>
            <a:r>
              <a:rPr sz="100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数值是手工近似，界面里不假装权威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81160" y="4956048"/>
            <a:ext cx="2514600" cy="32004"/>
          </a:xfrm>
          <a:prstGeom prst="rect">
            <a:avLst/>
          </a:prstGeom>
          <a:solidFill>
            <a:srgbClr val="222A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81160" y="5084064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D5762"/>
                </a:solidFill>
                <a:latin typeface="Microsoft YaHei"/>
                <a:ea typeface="Consolas"/>
                <a:cs typeface="Consolas"/>
              </a:rPr>
              <a:t>离这个原型还差什么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5376672"/>
            <a:ext cx="2514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1000" b="0">
                <a:solidFill>
                  <a:srgbClr val="E9EDF1"/>
                </a:solidFill>
                <a:latin typeface="Microsoft YaHei"/>
                <a:ea typeface="Consolas"/>
                <a:cs typeface="Consolas"/>
              </a:rPr>
              <a:t>总量与餐次已经实现了。缺的是三段宏量条，以及「没记的那一餐」也要占一行。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56032"/>
            <a:ext cx="8229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D5762"/>
                </a:solidFill>
                <a:latin typeface="Microsoft YaHei"/>
                <a:ea typeface="Consolas"/>
                <a:cs typeface="Consolas"/>
              </a:rPr>
              <a:t>界面原型 · 07 /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75488"/>
            <a:ext cx="1125900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9EDF1"/>
                </a:solidFill>
                <a:latin typeface="Microsoft YaHei"/>
                <a:ea typeface="Consolas"/>
                <a:cs typeface="Consolas"/>
              </a:rPr>
              <a:t>智能体对话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950976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说一句就记下来。写操作一律先给摘要，确认了才落库。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2044" y="1248156"/>
            <a:ext cx="8586216" cy="5522976"/>
          </a:xfrm>
          <a:prstGeom prst="roundRect">
            <a:avLst/>
          </a:prstGeom>
          <a:solidFill>
            <a:srgbClr val="2F39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444d59ec6fb2f02d5dad2cf27dcb78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8522208" cy="54589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281160" y="1335024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D5762"/>
                </a:solidFill>
                <a:latin typeface="Microsoft YaHei"/>
                <a:ea typeface="Consolas"/>
                <a:cs typeface="Consolas"/>
              </a:rPr>
              <a:t>这一页在解决什么</a:t>
            </a:r>
          </a:p>
        </p:txBody>
      </p:sp>
      <p:sp>
        <p:nvSpPr>
          <p:cNvPr id="9" name="Rectangle 8"/>
          <p:cNvSpPr/>
          <p:nvPr/>
        </p:nvSpPr>
        <p:spPr>
          <a:xfrm>
            <a:off x="9281160" y="1609344"/>
            <a:ext cx="822960" cy="32004"/>
          </a:xfrm>
          <a:prstGeom prst="rect">
            <a:avLst/>
          </a:prstGeom>
          <a:solidFill>
            <a:srgbClr val="2F39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81160" y="1792224"/>
            <a:ext cx="3291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0453A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81160" y="2048256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5"/>
              </a:spcBef>
              <a:spcAft>
                <a:spcPts val="145"/>
              </a:spcAft>
            </a:pPr>
            <a:r>
              <a:rPr sz="100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工具调用单独一张卡：准备写入 / 已写入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81160" y="2816352"/>
            <a:ext cx="3291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0453A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1160" y="3072384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5"/>
              </a:spcBef>
              <a:spcAft>
                <a:spcPts val="145"/>
              </a:spcAft>
            </a:pPr>
            <a:r>
              <a:rPr sz="100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确认前能看到每一行将写入什么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81160" y="3840480"/>
            <a:ext cx="3291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0453A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81160" y="4096512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5"/>
              </a:spcBef>
              <a:spcAft>
                <a:spcPts val="145"/>
              </a:spcAft>
            </a:pPr>
            <a:r>
              <a:rPr sz="100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拍照与语音留了入口（下一阶段接）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81160" y="4956048"/>
            <a:ext cx="2514600" cy="32004"/>
          </a:xfrm>
          <a:prstGeom prst="rect">
            <a:avLst/>
          </a:prstGeom>
          <a:solidFill>
            <a:srgbClr val="222A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81160" y="5084064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D5762"/>
                </a:solidFill>
                <a:latin typeface="Microsoft YaHei"/>
                <a:ea typeface="Consolas"/>
                <a:cs typeface="Consolas"/>
              </a:rPr>
              <a:t>离这个原型还差什么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5376672"/>
            <a:ext cx="2514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1000" b="0">
                <a:solidFill>
                  <a:srgbClr val="E9EDF1"/>
                </a:solidFill>
                <a:latin typeface="Microsoft YaHei"/>
                <a:ea typeface="Consolas"/>
                <a:cs typeface="Consolas"/>
              </a:rPr>
              <a:t>这一页还没有（计划 5）。它是目标形态，不是现状。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8229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D5762"/>
                </a:solidFill>
                <a:latin typeface="Microsoft YaHei"/>
                <a:ea typeface="Consolas"/>
                <a:cs typeface="Consolas"/>
              </a:rPr>
              <a:t>落地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86384"/>
            <a:ext cx="109115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EDF1"/>
                </a:solidFill>
                <a:latin typeface="Microsoft YaHei"/>
                <a:ea typeface="Consolas"/>
                <a:cs typeface="Consolas"/>
              </a:rPr>
              <a:t>这套语言怎么落地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35024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不需要重写界面。三步，每步都能单独验、单独回退。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700784"/>
            <a:ext cx="1280160" cy="32004"/>
          </a:xfrm>
          <a:prstGeom prst="rect">
            <a:avLst/>
          </a:prstGeom>
          <a:solidFill>
            <a:srgbClr val="E04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3456432" cy="1874519"/>
          </a:xfrm>
          <a:prstGeom prst="roundRect">
            <a:avLst/>
          </a:prstGeom>
          <a:solidFill>
            <a:srgbClr val="1115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920240"/>
            <a:ext cx="3456432" cy="41148"/>
          </a:xfrm>
          <a:prstGeom prst="rect">
            <a:avLst/>
          </a:prstGeom>
          <a:solidFill>
            <a:srgbClr val="E04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139696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9EDF1"/>
                </a:solidFill>
                <a:latin typeface="Microsoft YaHei"/>
                <a:ea typeface="Consolas"/>
                <a:cs typeface="Consolas"/>
              </a:rPr>
              <a:t>第一步 · 加层级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542032"/>
            <a:ext cx="29077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85"/>
              </a:spcBef>
              <a:spcAft>
                <a:spcPts val="185"/>
              </a:spcAft>
            </a:pPr>
            <a:r>
              <a:rPr sz="105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· theme.css 补 --surface / --raised / --line-hi</a:t>
            </a:r>
          </a:p>
          <a:p>
            <a:pPr algn="l">
              <a:spcBef>
                <a:spcPts val="185"/>
              </a:spcBef>
              <a:spcAft>
                <a:spcPts val="185"/>
              </a:spcAft>
            </a:pPr>
            <a:r>
              <a:rPr sz="105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· 所有卡片换成三级表面 + 顶部 1px 高光</a:t>
            </a:r>
          </a:p>
          <a:p>
            <a:pPr algn="l">
              <a:spcBef>
                <a:spcPts val="185"/>
              </a:spcBef>
              <a:spcAft>
                <a:spcPts val="185"/>
              </a:spcAft>
            </a:pPr>
            <a:r>
              <a:rPr sz="105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· 不动布局，只换表面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920240"/>
            <a:ext cx="3456432" cy="1874519"/>
          </a:xfrm>
          <a:prstGeom prst="roundRect">
            <a:avLst/>
          </a:prstGeom>
          <a:solidFill>
            <a:srgbClr val="1115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34840" y="1920240"/>
            <a:ext cx="3456432" cy="4114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59" y="2139696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9EDF1"/>
                </a:solidFill>
                <a:latin typeface="Microsoft YaHei"/>
                <a:ea typeface="Consolas"/>
                <a:cs typeface="Consolas"/>
              </a:rPr>
              <a:t>第二步 · 让数字变大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59" y="2542032"/>
            <a:ext cx="29077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85"/>
              </a:spcBef>
              <a:spcAft>
                <a:spcPts val="185"/>
              </a:spcAft>
            </a:pPr>
            <a:r>
              <a:rPr sz="105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· 抽一个 &lt;Stat&gt;：46pt 等宽数字 + 15pt 单位</a:t>
            </a:r>
          </a:p>
          <a:p>
            <a:pPr algn="l">
              <a:spcBef>
                <a:spcPts val="185"/>
              </a:spcBef>
              <a:spcAft>
                <a:spcPts val="185"/>
              </a:spcAft>
            </a:pPr>
            <a:r>
              <a:rPr sz="105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· 首页的容量、饮食的热量先换</a:t>
            </a:r>
          </a:p>
          <a:p>
            <a:pPr algn="l">
              <a:spcBef>
                <a:spcPts val="185"/>
              </a:spcBef>
              <a:spcAft>
                <a:spcPts val="185"/>
              </a:spcAft>
            </a:pPr>
            <a:r>
              <a:rPr sz="105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· 改变「一眼先看到什么」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920240"/>
            <a:ext cx="3456432" cy="1874519"/>
          </a:xfrm>
          <a:prstGeom prst="roundRect">
            <a:avLst/>
          </a:prstGeom>
          <a:solidFill>
            <a:srgbClr val="1115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920240"/>
            <a:ext cx="3456432" cy="41148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2139696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9EDF1"/>
                </a:solidFill>
                <a:latin typeface="Microsoft YaHei"/>
                <a:ea typeface="Consolas"/>
                <a:cs typeface="Consolas"/>
              </a:rPr>
              <a:t>第三步 · 加微型图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542032"/>
            <a:ext cx="29077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85"/>
              </a:spcBef>
              <a:spcAft>
                <a:spcPts val="185"/>
              </a:spcAft>
            </a:pPr>
            <a:r>
              <a:rPr sz="105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· 17 格热力条（数据已在 /api/volume/weekly）</a:t>
            </a:r>
          </a:p>
          <a:p>
            <a:pPr algn="l">
              <a:spcBef>
                <a:spcPts val="185"/>
              </a:spcBef>
              <a:spcAft>
                <a:spcPts val="185"/>
              </a:spcAft>
            </a:pPr>
            <a:r>
              <a:rPr sz="105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· 三段宏量条、sparkline</a:t>
            </a:r>
          </a:p>
          <a:p>
            <a:pPr algn="l">
              <a:spcBef>
                <a:spcPts val="185"/>
              </a:spcBef>
              <a:spcAft>
                <a:spcPts val="185"/>
              </a:spcAft>
            </a:pPr>
            <a:r>
              <a:rPr sz="1050" b="0">
                <a:solidFill>
                  <a:srgbClr val="7F8A95"/>
                </a:solidFill>
                <a:latin typeface="Microsoft YaHei"/>
                <a:ea typeface="Consolas"/>
                <a:cs typeface="Consolas"/>
              </a:rPr>
              <a:t>· 每加一张图都要有对应空态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041648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D5762"/>
                </a:solidFill>
                <a:latin typeface="Microsoft YaHei"/>
                <a:ea typeface="Consolas"/>
                <a:cs typeface="Consolas"/>
              </a:rPr>
              <a:t>每步怎么验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4315968"/>
            <a:ext cx="10698480" cy="32004"/>
          </a:xfrm>
          <a:prstGeom prst="rect">
            <a:avLst/>
          </a:prstGeom>
          <a:solidFill>
            <a:srgbClr val="222A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480560"/>
            <a:ext cx="3200400" cy="45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0453A"/>
                </a:solidFill>
                <a:latin typeface="Microsoft YaHei"/>
                <a:ea typeface="Consolas"/>
                <a:cs typeface="Consolas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48056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60"/>
              </a:spcBef>
              <a:spcAft>
                <a:spcPts val="160"/>
              </a:spcAft>
            </a:pPr>
            <a:r>
              <a:rPr sz="1050" b="0">
                <a:solidFill>
                  <a:srgbClr val="E9EDF1"/>
                </a:solidFill>
                <a:latin typeface="Microsoft YaHei"/>
                <a:ea typeface="Consolas"/>
                <a:cs typeface="Consolas"/>
              </a:rPr>
              <a:t>打开今日页，卡片之间能看出层级差；改动里 grep 不到新的 #hex 字面量。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480560"/>
            <a:ext cx="3200400" cy="45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FB950"/>
                </a:solidFill>
                <a:latin typeface="Microsoft YaHei"/>
                <a:ea typeface="Consolas"/>
                <a:cs typeface="Consolas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448056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60"/>
              </a:spcBef>
              <a:spcAft>
                <a:spcPts val="160"/>
              </a:spcAft>
            </a:pPr>
            <a:r>
              <a:rPr sz="1050" b="0">
                <a:solidFill>
                  <a:srgbClr val="E9EDF1"/>
                </a:solidFill>
                <a:latin typeface="Microsoft YaHei"/>
                <a:ea typeface="Consolas"/>
                <a:cs typeface="Consolas"/>
              </a:rPr>
              <a:t>首页第一眼看到的是数字而不是标题；远看仍读得出「16 组」。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4480560"/>
            <a:ext cx="3200400" cy="45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D29922"/>
                </a:solidFill>
                <a:latin typeface="Microsoft YaHei"/>
                <a:ea typeface="Consolas"/>
                <a:cs typeface="Consolas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448056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60"/>
              </a:spcBef>
              <a:spcAft>
                <a:spcPts val="160"/>
              </a:spcAft>
            </a:pPr>
            <a:r>
              <a:rPr sz="1050" b="0">
                <a:solidFill>
                  <a:srgbClr val="E9EDF1"/>
                </a:solidFill>
                <a:latin typeface="Microsoft YaHei"/>
                <a:ea typeface="Consolas"/>
                <a:cs typeface="Consolas"/>
              </a:rPr>
              <a:t>录一次训练后热力条有颜色；0 组时是灰的，而不是从图上消失。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559552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9EDF1"/>
                </a:solidFill>
                <a:latin typeface="Microsoft YaHei"/>
                <a:ea typeface="Consolas"/>
                <a:cs typeface="Consolas"/>
              </a:rPr>
              <a:t>七张界面里五张已经能在这个 exe 里点到；人体图的着色要先录一次训练才看得见。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961888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900" b="0">
                <a:solidFill>
                  <a:srgbClr val="4D5762"/>
                </a:solidFill>
                <a:latin typeface="Microsoft YaHei"/>
                <a:ea typeface="Consolas"/>
                <a:cs typeface="Consolas"/>
              </a:rPr>
              <a:t>本 deck 的 7 张界面是 HTML 一比一渲染（真实 SVG、真实排版），不是手绘示意图；幻灯片自身的文字与色板是 PPT 原生对象。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